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0B0B0B"/>
                </a:solidFill>
                <a:latin typeface="DejaVu Sans"/>
              </a:rPr>
              <a:t>G.A.T.E.S. — Gate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52514E"/>
                </a:solidFill>
                <a:latin typeface="DejaVu Sans"/>
              </a:rPr>
              <a:t>Execution validity for autonomous research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033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A8880"/>
                </a:solidFill>
                <a:latin typeface="DejaVu Sans"/>
              </a:rPr>
              <a:t>Measured impact on Agent Laboratory, against the published fabrication rates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8880"/>
                </a:solidFill>
                <a:latin typeface="DejaVu Sans"/>
              </a:rPr>
              <a:t>2026-08-15   ·   266 tests   ·   engineer deepseek-v4-flash, gates local qwen3:8b   ·   every figure a recorded measurement or a cited number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A78D6"/>
                </a:solidFill>
                <a:latin typeface="DejaVu Sans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B0B0B"/>
                </a:solidFill>
                <a:latin typeface="DejaVu Sans"/>
              </a:rPr>
              <a:t>A crashed run scored 1.0 and became a published paper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11064240" cy="1234440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0B0B"/>
                </a:solidFill>
                <a:latin typeface="DejaVu Sans"/>
              </a:rPr>
              <a:t>return output_capture.getvalue()[:MAX_LEN]      # MAX_LEN = 1000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52514E"/>
                </a:solidFill>
                <a:latin typeface="DejaVu Sans"/>
              </a:rPr>
              <a:t>The crash marker is appended AFTER the program's own output — so on any run that prints more than 1,000 characters it falls off the same slice, and the solver's only crash test never fires.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017520"/>
            <a:ext cx="2606040" cy="1234440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127248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B6834"/>
                </a:solidFill>
                <a:latin typeface="DejaVu Sans"/>
              </a:rPr>
              <a:t>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67328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2514E"/>
                </a:solidFill>
                <a:latin typeface="DejaVu Sans"/>
              </a:rPr>
              <a:t>reward score, run raising NameError on every attempt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3017520"/>
            <a:ext cx="2606040" cy="1234440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3127248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B6834"/>
                </a:solidFill>
                <a:latin typeface="DejaVu Sans"/>
              </a:rPr>
              <a:t>65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3767328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2514E"/>
                </a:solidFill>
                <a:latin typeface="DejaVu Sans"/>
              </a:rPr>
              <a:t>numeric claims in the paper it produced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017520"/>
            <a:ext cx="2606040" cy="1234440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127248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B6834"/>
                </a:solidFill>
                <a:latin typeface="DejaVu Sans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767328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2514E"/>
                </a:solidFill>
                <a:latin typeface="DejaVu Sans"/>
              </a:rPr>
              <a:t>of them traceable to any execution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0" y="3017520"/>
            <a:ext cx="2560320" cy="1234440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0" y="3127248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8A8880"/>
                </a:solidFill>
                <a:latin typeface="DejaVu Sans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376732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2514E"/>
                </a:solidFill>
                <a:latin typeface="DejaVu Sans"/>
              </a:rPr>
              <a:t>record_result calls in its saved 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66344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0B0B"/>
                </a:solidFill>
                <a:latin typeface="DejaVu Sans"/>
              </a:rPr>
              <a:t>The paper is fluent, specific, and unfalsifiable from its own artifacts.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52514E"/>
                </a:solidFill>
                <a:latin typeface="DejaVu Sans"/>
              </a:rPr>
              <a:t>“peak accuracy at K=2 (81.60% test) … a 13.61× speedup (0.0180s vs 0.2450s) … a catastrophic collapse to 39.20% at K=8.” None of those numbers appears anywhere in the code that was actually run.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EB6834"/>
                </a:solidFill>
                <a:latin typeface="DejaVu Sans"/>
              </a:rPr>
              <a:t>Nothing in the pipeline could tell a measurement from a sentence.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A78D6"/>
                </a:solidFill>
                <a:latin typeface="DejaVu Sans"/>
              </a:rPr>
              <a:t>THE BENCHMARKS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B0B0B"/>
                </a:solidFill>
                <a:latin typeface="DejaVu Sans"/>
              </a:rPr>
              <a:t>This failure is the field's, and it is quantified</a:t>
            </a:r>
          </a:p>
        </p:txBody>
      </p:sp>
      <p:pic>
        <p:nvPicPr>
          <p:cNvPr id="4" name="Picture 3" descr="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7223760" cy="35313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46720" y="1417320"/>
            <a:ext cx="3566160" cy="4389120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75320" y="1600200"/>
            <a:ext cx="3108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0B0B"/>
                </a:solidFill>
                <a:latin typeface="DejaVu Sans"/>
              </a:rPr>
              <a:t>MLR-Bench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514E"/>
                </a:solidFill>
                <a:latin typeface="DejaVu Sans"/>
              </a:rPr>
              <a:t>Coding agents produce fabricated or invalidated experimental results in 80% of cases. Both agents score below the 6.0 acceptance threshold on Soundness while scoring well on Completeness — fluent, and unsound.</a:t>
            </a:r>
          </a:p>
          <a:p>
            <a:pPr algn="l">
              <a:lnSpc>
                <a:spcPct val="115000"/>
              </a:lnSpc>
            </a:pPr>
            <a:r>
              <a:rPr sz="800" b="0">
                <a:solidFill>
                  <a:srgbClr val="52514E"/>
                </a:solidFill>
                <a:latin typeface="DejaVu San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0B0B"/>
                </a:solidFill>
                <a:latin typeface="DejaVu Sans"/>
              </a:rPr>
              <a:t>BadScientist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514E"/>
                </a:solidFill>
                <a:latin typeface="DejaVu Sans"/>
              </a:rPr>
              <a:t>Fabricated papers accepted at up to 82.0%, with detection barely exceeding random chance.</a:t>
            </a:r>
          </a:p>
          <a:p>
            <a:pPr algn="l">
              <a:lnSpc>
                <a:spcPct val="115000"/>
              </a:lnSpc>
            </a:pPr>
            <a:r>
              <a:rPr sz="800" b="0">
                <a:solidFill>
                  <a:srgbClr val="52514E"/>
                </a:solidFill>
                <a:latin typeface="DejaVu San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2A78D6"/>
                </a:solidFill>
                <a:latin typeface="DejaVu Sans"/>
              </a:rPr>
              <a:t>It names the defence it thinks is needed: provenance verification. That is what Gate 1 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978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2514E"/>
                </a:solidFill>
                <a:latin typeface="DejaVu Sans"/>
              </a:rPr>
              <a:t>If LLM reviewers detect fabrication at chance, a validity layer built on model judgement inherits that ceiling — so Gate 1's verdict is entirely deterministic.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A78D6"/>
                </a:solidFill>
                <a:latin typeface="DejaVu Sans"/>
              </a:rPr>
              <a:t>THE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B0B0B"/>
                </a:solidFill>
                <a:latin typeface="DejaVu Sans"/>
              </a:rPr>
              <a:t>Same acceptance rate — everything downstream differs</a:t>
            </a:r>
          </a:p>
        </p:txBody>
      </p:sp>
      <p:pic>
        <p:nvPicPr>
          <p:cNvPr id="4" name="Picture 3" descr="head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7406640" cy="420897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229600" y="1371600"/>
            <a:ext cx="3383280" cy="4480560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58200" y="155448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0B0B"/>
                </a:solidFill>
                <a:latin typeface="DejaVu Sans"/>
              </a:rPr>
              <a:t>Both arms accept.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52514E"/>
                </a:solidFill>
                <a:latin typeface="DejaVu Sans"/>
              </a:rPr>
              <a:t>5 of 5 runs, either way. Acceptance is not where they differ — everything that happens to the numbers afterwards is.</a:t>
            </a:r>
          </a:p>
          <a:p>
            <a:pPr algn="l">
              <a:lnSpc>
                <a:spcPct val="115000"/>
              </a:lnSpc>
            </a:pPr>
            <a:r>
              <a:rPr sz="800" b="0">
                <a:solidFill>
                  <a:srgbClr val="52514E"/>
                </a:solidFill>
                <a:latin typeface="DejaVu San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52514E"/>
                </a:solidFill>
                <a:latin typeface="DejaVu Sans"/>
              </a:rPr>
              <a:t>Without the gate, 5 of the 15 results a run produced never reached the write-up at all; in one run all three were lost, leaving a writer with a training log and no results.</a:t>
            </a:r>
          </a:p>
          <a:p>
            <a:pPr algn="l">
              <a:lnSpc>
                <a:spcPct val="115000"/>
              </a:lnSpc>
            </a:pPr>
            <a:r>
              <a:rPr sz="800" b="0">
                <a:solidFill>
                  <a:srgbClr val="52514E"/>
                </a:solidFill>
                <a:latin typeface="DejaVu San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150" b="1">
                <a:solidFill>
                  <a:srgbClr val="EB6834"/>
                </a:solidFill>
                <a:latin typeface="DejaVu Sans"/>
              </a:rPr>
              <a:t>And 0 of 15 carry a trace id or a code hash.</a:t>
            </a:r>
          </a:p>
          <a:p>
            <a:pPr algn="l">
              <a:lnSpc>
                <a:spcPct val="115000"/>
              </a:lnSpc>
            </a:pPr>
            <a:r>
              <a:rPr sz="800" b="0">
                <a:solidFill>
                  <a:srgbClr val="52514E"/>
                </a:solidFill>
                <a:latin typeface="DejaVu San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8880"/>
                </a:solidFill>
                <a:latin typeface="DejaVu Sans"/>
              </a:rPr>
              <a:t>5 runs · deepseek-v4-flash · T=0.7 · same task, same instructions, same turn budget.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A78D6"/>
                </a:solidFill>
                <a:latin typeface="DejaVu Sans"/>
              </a:rPr>
              <a:t>REPORT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B0B0B"/>
                </a:solidFill>
                <a:latin typeface="DejaVu Sans"/>
              </a:rPr>
              <a:t>Both arms' reports, measured the same way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017520"/>
                <a:gridCol w="3017520"/>
              </a:tblGrid>
              <a:tr h="420624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B0B0B"/>
                          </a:solidFill>
                          <a:latin typeface="DejaVu Sans"/>
                        </a:defRPr>
                      </a:pPr>
                    </a:p>
                  </a:txBody>
                  <a:tcPr>
                    <a:solidFill>
                      <a:srgbClr val="F4F3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B0B0B"/>
                          </a:solidFill>
                          <a:latin typeface="DejaVu Sans"/>
                        </a:defRPr>
                      </a:pPr>
                      <a:r>
                        <a:t>with Gate 1</a:t>
                      </a:r>
                    </a:p>
                  </a:txBody>
                  <a:tcPr>
                    <a:solidFill>
                      <a:srgbClr val="F4F3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B0B0B"/>
                          </a:solidFill>
                          <a:latin typeface="DejaVu Sans"/>
                        </a:defRPr>
                      </a:pPr>
                      <a:r>
                        <a:t>without Gate 1</a:t>
                      </a:r>
                    </a:p>
                  </a:txBody>
                  <a:tcPr>
                    <a:solidFill>
                      <a:srgbClr val="F4F3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results the run produced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reached the writing agent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lost to the 1,000-char channel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traceable to an execution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reproduced when re-run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24 of 24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10 of 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02920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0B0B"/>
                </a:solidFill>
                <a:latin typeface="DejaVu Sans"/>
              </a:rPr>
              <a:t>The ungated arm's numbers are not wrong.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52514E"/>
                </a:solidFill>
                <a:latin typeface="DejaVu Sans"/>
              </a:rPr>
              <a:t>Every one of the 10 that reached the writer reproduced exactly. It fails on completeness — 5 of 15 results never got through the window, and in one run all three did not, leaving the writer a training log and no results — and on traceability: 0 of 15 carry a trace id or a code hash.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EB6834"/>
                </a:solidFill>
                <a:latin typeface="DejaVu Sans"/>
              </a:rPr>
              <a:t>A number that reproduces by luck and a number that was measured look identical to a reader. That is the gap.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A78D6"/>
                </a:solidFill>
                <a:latin typeface="DejaVu Sans"/>
              </a:rPr>
              <a:t>THE PAPERS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B0B0B"/>
                </a:solidFill>
                <a:latin typeface="DejaVu Sans"/>
              </a:rPr>
              <a:t>Three full workflows, audited on identical criteria</a:t>
            </a:r>
          </a:p>
        </p:txBody>
      </p:sp>
      <p:pic>
        <p:nvPicPr>
          <p:cNvPr id="4" name="Picture 3" descr="pap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6858000" cy="381453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680960" y="1371600"/>
            <a:ext cx="3931920" cy="4480560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09560" y="1554480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0B0B"/>
                </a:solidFill>
                <a:latin typeface="DejaVu Sans"/>
              </a:rPr>
              <a:t>The gate-off arm did not fabricate.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52514E"/>
                </a:solidFill>
                <a:latin typeface="DejaVu Sans"/>
              </a:rPr>
              <a:t>Its Results section says so itself: “the decisive measurements … are not present in the evidence window. The captured log was truncated at the legacy 1,000-character boundary.” It then reports the loss curve it could see.</a:t>
            </a:r>
          </a:p>
          <a:p>
            <a:pPr algn="l">
              <a:lnSpc>
                <a:spcPct val="115000"/>
              </a:lnSpc>
            </a:pPr>
            <a:r>
              <a:rPr sz="700" b="0">
                <a:solidFill>
                  <a:srgbClr val="52514E"/>
                </a:solidFill>
                <a:latin typeface="DejaVu San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EB6834"/>
                </a:solidFill>
                <a:latin typeface="DejaVu Sans"/>
              </a:rPr>
              <a:t>An honest paper about a truncated log.</a:t>
            </a:r>
          </a:p>
          <a:p>
            <a:pPr algn="l">
              <a:lnSpc>
                <a:spcPct val="115000"/>
              </a:lnSpc>
            </a:pPr>
            <a:r>
              <a:rPr sz="700" b="0">
                <a:solidFill>
                  <a:srgbClr val="52514E"/>
                </a:solidFill>
                <a:latin typeface="DejaVu San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52514E"/>
                </a:solidFill>
                <a:latin typeface="DejaVu Sans"/>
              </a:rPr>
              <a:t>So two things are doing work, and only one of them is the gate. The prompt — shared by both arms — forbids describing an unrecorded quantity, and that is what stops fabrication. Gate 1 is what gets the results to the writer, bound to the run.</a:t>
            </a:r>
          </a:p>
          <a:p>
            <a:pPr algn="l">
              <a:lnSpc>
                <a:spcPct val="115000"/>
              </a:lnSpc>
            </a:pPr>
            <a:r>
              <a:rPr sz="700" b="0">
                <a:solidFill>
                  <a:srgbClr val="52514E"/>
                </a:solidFill>
                <a:latin typeface="DejaVu San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50" b="1">
                <a:solidFill>
                  <a:srgbClr val="2A78D6"/>
                </a:solidFill>
                <a:latin typeface="DejaVu Sans"/>
              </a:rPr>
              <a:t>Instruction without delivery: an honest paper with no findings. Delivery without instruction: the archived paper, 65 of 65 unsourced.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6949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8880"/>
                </a:solidFill>
                <a:latin typeface="DejaVu Sans"/>
              </a:rPr>
              <a:t>The gate-off arm is credited for every value its run recorded to disk — none of which reached the writer. The comparison is generous on purpose; the gap that survives is the claim.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A78D6"/>
                </a:solidFill>
                <a:latin typeface="DejaVu Sans"/>
              </a:rPr>
              <a:t>WHAT GATE 1 CHECKS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B0B0B"/>
                </a:solidFill>
                <a:latin typeface="DejaVu Sans"/>
              </a:rPr>
              <a:t>20 deterministic checks in six families, plus one model-assisted</a:t>
            </a:r>
          </a:p>
        </p:txBody>
      </p:sp>
      <p:pic>
        <p:nvPicPr>
          <p:cNvPr id="4" name="Picture 3" descr="chec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473450" cy="40233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1463040"/>
            <a:ext cx="3840480" cy="4297680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0" y="1645920"/>
            <a:ext cx="33832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0B0B"/>
                </a:solidFill>
                <a:latin typeface="DejaVu Sans"/>
              </a:rPr>
              <a:t>The severity split is the design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514E"/>
                </a:solidFill>
                <a:latin typeface="DejaVu Sans"/>
              </a:rPr>
              <a:t>FAIL blocks. WARN and INFO are reported, travel with their evidence, and can never change a verdict.</a:t>
            </a:r>
          </a:p>
          <a:p>
            <a:pPr algn="l">
              <a:lnSpc>
                <a:spcPct val="115000"/>
              </a:lnSpc>
            </a:pPr>
            <a:r>
              <a:rPr sz="800" b="0">
                <a:solidFill>
                  <a:srgbClr val="52514E"/>
                </a:solidFill>
                <a:latin typeface="DejaVu San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514E"/>
                </a:solidFill>
                <a:latin typeface="DejaVu Sans"/>
              </a:rPr>
              <a:t>That is what lets a REQUIRED LLM layer coexist with a model-free verdict: model findings are WARN by construction, and the feedback report is written after decide() has already fixed the outcome.</a:t>
            </a:r>
          </a:p>
          <a:p>
            <a:pPr algn="l">
              <a:lnSpc>
                <a:spcPct val="115000"/>
              </a:lnSpc>
            </a:pPr>
            <a:r>
              <a:rPr sz="800" b="0">
                <a:solidFill>
                  <a:srgbClr val="52514E"/>
                </a:solidFill>
                <a:latin typeface="DejaVu San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8880"/>
                </a:solidFill>
                <a:latin typeface="DejaVu Sans"/>
              </a:rPr>
              <a:t>A test parses the module's AST to assert Severity.FAIL never appears in an expression there.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064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514E"/>
                </a:solidFill>
                <a:latin typeface="DejaVu Sans"/>
              </a:rPr>
              <a:t>results.values_computed is the strongest claim: record_result("k", acc) passes, record_result("k", 0.816) fails — and round(0.8160, 3) fails too, because constant folding does not launder a typed number.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A78D6"/>
                </a:solidFill>
                <a:latin typeface="DejaVu Sans"/>
              </a:rPr>
              <a:t>LIVE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B0B0B"/>
                </a:solidFill>
                <a:latin typeface="DejaVu Sans"/>
              </a:rPr>
              <a:t>Gate 1 in the complete workflow, not just the solver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603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645920"/>
                <a:gridCol w="2377440"/>
                <a:gridCol w="5212080"/>
              </a:tblGrid>
              <a:tr h="402336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B0B"/>
                          </a:solidFill>
                          <a:latin typeface="DejaVu Sans"/>
                        </a:defRPr>
                      </a:pPr>
                      <a:r>
                        <a:t>attempt</a:t>
                      </a:r>
                    </a:p>
                  </a:txBody>
                  <a:tcPr>
                    <a:solidFill>
                      <a:srgbClr val="F4F3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B0B"/>
                          </a:solidFill>
                          <a:latin typeface="DejaVu Sans"/>
                        </a:defRPr>
                      </a:pPr>
                      <a:r>
                        <a:t>verdict</a:t>
                      </a:r>
                    </a:p>
                  </a:txBody>
                  <a:tcPr>
                    <a:solidFill>
                      <a:srgbClr val="F4F3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B0B"/>
                          </a:solidFill>
                          <a:latin typeface="DejaVu Sans"/>
                        </a:defRPr>
                      </a:pPr>
                      <a:r>
                        <a:t>values recorded</a:t>
                      </a:r>
                    </a:p>
                  </a:txBody>
                  <a:tcPr>
                    <a:solidFill>
                      <a:srgbClr val="F4F3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B0B"/>
                          </a:solidFill>
                          <a:latin typeface="DejaVu Sans"/>
                        </a:defRPr>
                      </a:pPr>
                      <a:r>
                        <a:t>blocking failures</a:t>
                      </a:r>
                    </a:p>
                  </a:txBody>
                  <a:tcPr>
                    <a:solidFill>
                      <a:srgbClr val="F4F3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attempt 01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attempt 02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FAIL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exec.exit_code_zero, exec.no_uncaught_exception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attempt 03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attempt 04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attempt 05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attempt 07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attempt 09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attempt 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FAIL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exec.exit_code_zero, exec.no_uncaught_exception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attempt 11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attempt 12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attempt 13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attempt 14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attempt 15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attempt 16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795528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0B0B"/>
                </a:solidFill>
                <a:latin typeface="DejaVu Sans"/>
              </a:rPr>
              <a:t>The archived paper's run failed exactly this way and was scored 1.0.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52514E"/>
                </a:solidFill>
                <a:latin typeface="DejaVu Sans"/>
              </a:rPr>
              <a:t>It raised NameError: name 'hidden_dim' is not defined on every attempt. The run above raised NameError: name 'all_experiment_data' is not defined — the same class of defect, caught, with the reason handed back to the engineer.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EB6834"/>
                </a:solidFill>
                <a:latin typeface="DejaVu Sans"/>
              </a:rPr>
              <a:t>Same failure mode. Opposite outcome.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A78D6"/>
                </a:solidFill>
                <a:latin typeface="DejaVu Sans"/>
              </a:rPr>
              <a:t>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B0B0B"/>
                </a:solidFill>
                <a:latin typeface="DejaVu Sans"/>
              </a:rPr>
              <a:t>Gate 1's marginal cost on the paid API is zero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005840"/>
                <a:gridCol w="1920240"/>
                <a:gridCol w="2103120"/>
                <a:gridCol w="2103120"/>
                <a:gridCol w="1280160"/>
              </a:tblGrid>
              <a:tr h="438912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B0B"/>
                          </a:solidFill>
                          <a:latin typeface="DejaVu Sans"/>
                        </a:defRPr>
                      </a:pPr>
                      <a:r>
                        <a:t>role (summed over 6 runs)</a:t>
                      </a:r>
                    </a:p>
                  </a:txBody>
                  <a:tcPr>
                    <a:solidFill>
                      <a:srgbClr val="F4F3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B0B"/>
                          </a:solidFill>
                          <a:latin typeface="DejaVu Sans"/>
                        </a:defRPr>
                      </a:pPr>
                      <a:r>
                        <a:t>calls</a:t>
                      </a:r>
                    </a:p>
                  </a:txBody>
                  <a:tcPr>
                    <a:solidFill>
                      <a:srgbClr val="F4F3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B0B"/>
                          </a:solidFill>
                          <a:latin typeface="DejaVu Sans"/>
                        </a:defRPr>
                      </a:pPr>
                      <a:r>
                        <a:t>prompt tok</a:t>
                      </a:r>
                    </a:p>
                  </a:txBody>
                  <a:tcPr>
                    <a:solidFill>
                      <a:srgbClr val="F4F3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B0B"/>
                          </a:solidFill>
                          <a:latin typeface="DejaVu Sans"/>
                        </a:defRPr>
                      </a:pPr>
                      <a:r>
                        <a:t>completion tok</a:t>
                      </a:r>
                    </a:p>
                  </a:txBody>
                  <a:tcPr>
                    <a:solidFill>
                      <a:srgbClr val="F4F3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B0B"/>
                          </a:solidFill>
                          <a:latin typeface="DejaVu Sans"/>
                        </a:defRPr>
                      </a:pPr>
                      <a:r>
                        <a:t>of which reasoning</a:t>
                      </a:r>
                    </a:p>
                  </a:txBody>
                  <a:tcPr>
                    <a:solidFill>
                      <a:srgbClr val="F4F3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B0B"/>
                          </a:solidFill>
                          <a:latin typeface="DejaVu Sans"/>
                        </a:defRPr>
                      </a:pPr>
                      <a:r>
                        <a:t>billed</a:t>
                      </a:r>
                    </a:p>
                  </a:txBody>
                  <a:tcPr>
                    <a:solidFill>
                      <a:srgbClr val="F4F3E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engineer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21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13,626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47,871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30,046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paid API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gate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26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14,857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17,855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local — free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3566160"/>
            <a:ext cx="3474720" cy="1234440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675888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B6834"/>
                </a:solidFill>
                <a:latin typeface="DejaVu Sans"/>
              </a:rPr>
              <a:t>3x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1596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2514E"/>
                </a:solidFill>
                <a:latin typeface="DejaVu Sans"/>
              </a:rPr>
              <a:t>one engineer call vs one gate call, in completion tokens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3566160"/>
            <a:ext cx="3474720" cy="1234440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3675888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A78D6"/>
                </a:solidFill>
                <a:latin typeface="DejaVu Sans"/>
              </a:rPr>
              <a:t>17,855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431596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2514E"/>
                </a:solidFill>
                <a:latin typeface="DejaVu Sans"/>
              </a:rPr>
              <a:t>gate tokens — all local, none billed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3566160"/>
            <a:ext cx="3566160" cy="1234440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3675888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B6834"/>
                </a:solidFill>
                <a:latin typeface="DejaVu Sans"/>
              </a:rPr>
              <a:t>30,046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431596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2514E"/>
                </a:solidFill>
                <a:latin typeface="DejaVu Sans"/>
              </a:rPr>
              <a:t>engineer reasoning tokens: billed, never seen in the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206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2514E"/>
                </a:solidFill>
                <a:latin typeface="DejaVu Sans"/>
              </a:rPr>
              <a:t>What Gate 1 changes on the bill is rewrites: each rejection buys another engineer call. A rejection that names the real fault is a rewrite the agent does not waste — which is why the shadowed-contract check was worth adding.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A78D6"/>
                </a:solidFill>
                <a:latin typeface="DejaVu Sans"/>
              </a:rPr>
              <a:t>LIMITS &amp;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B0B0B"/>
                </a:solidFill>
                <a:latin typeface="DejaVu Sans"/>
              </a:rPr>
              <a:t>What Gate 1 does not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90000"/>
              </a:lnSpc>
            </a:pPr>
            <a:r>
              <a:rPr sz="1300" b="0">
                <a:solidFill>
                  <a:srgbClr val="52514E"/>
                </a:solidFill>
                <a:latin typeface="DejaVu Sans"/>
              </a:rPr>
              <a:t>·  It does not ask whether a result is plausible — that is Gate 2</a:t>
            </a:r>
          </a:p>
          <a:p>
            <a:pPr algn="l">
              <a:lnSpc>
                <a:spcPct val="190000"/>
              </a:lnSpc>
            </a:pPr>
            <a:r>
              <a:rPr sz="1300" b="0">
                <a:solidFill>
                  <a:srgbClr val="52514E"/>
                </a:solidFill>
                <a:latin typeface="DejaVu Sans"/>
              </a:rPr>
              <a:t>·  It does not read the manuscript — that is Gate 3</a:t>
            </a:r>
          </a:p>
          <a:p>
            <a:pPr algn="l">
              <a:lnSpc>
                <a:spcPct val="190000"/>
              </a:lnSpc>
            </a:pPr>
            <a:r>
              <a:rPr sz="1300" b="0">
                <a:solidFill>
                  <a:srgbClr val="52514E"/>
                </a:solidFill>
                <a:latin typeface="DejaVu Sans"/>
              </a:rPr>
              <a:t>·  The ungated arm's numbers are not wrong: every one that reached the writer reproduced. It fails on completeness and provenance, which is a different and narrower claim</a:t>
            </a:r>
          </a:p>
          <a:p>
            <a:pPr algn="l">
              <a:lnSpc>
                <a:spcPct val="190000"/>
              </a:lnSpc>
            </a:pPr>
            <a:r>
              <a:rPr sz="1300" b="0">
                <a:solidFill>
                  <a:srgbClr val="52514E"/>
                </a:solidFill>
                <a:latin typeface="DejaVu Sans"/>
              </a:rPr>
              <a:t>·  The log scanner's recall is bounded by what it was shown, and the lines examined are recorded so the claim cannot exceed the evidence</a:t>
            </a:r>
          </a:p>
          <a:p>
            <a:pPr algn="l">
              <a:lnSpc>
                <a:spcPct val="190000"/>
              </a:lnSpc>
            </a:pPr>
            <a:r>
              <a:rPr sz="1300" b="0">
                <a:solidFill>
                  <a:srgbClr val="52514E"/>
                </a:solidFill>
                <a:latin typeface="DejaVu Sans"/>
              </a:rPr>
              <a:t>·  A mean computed inside the experiment over a silently shortened list arrives as one value Gate 1 cannot see behind — Gate 2's to close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846320"/>
            <a:ext cx="11064240" cy="1554480"/>
          </a:xfrm>
          <a:prstGeom prst="roundRect">
            <a:avLst/>
          </a:prstGeom>
          <a:solidFill>
            <a:srgbClr val="FB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029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0B0B"/>
                </a:solidFill>
                <a:latin typeface="DejaVu Sans"/>
              </a:rPr>
              <a:t>Next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52514E"/>
                </a:solidFill>
                <a:latin typeface="DejaVu Sans"/>
              </a:rPr>
              <a:t>·  Complete the full-workflow paper and audit it against the archived one on identical criteria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52514E"/>
                </a:solidFill>
                <a:latin typeface="DejaVu Sans"/>
              </a:rPr>
              <a:t>·  Channel-fidelity arm at MAX_LEN ∈ {1000, 4000, 16000, ∞}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2A78D6"/>
                </a:solidFill>
                <a:latin typeface="DejaVu Sans"/>
              </a:rPr>
              <a:t>·  Then Gate 2 — source ↔ result coherence, on the same model seam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