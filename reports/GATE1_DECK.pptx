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2103120"/>
            <a:ext cx="10515600" cy="1097280"/>
          </a:xfrm>
          <a:prstGeom prst="rect">
            <a:avLst/>
          </a:prstGeom>
          <a:noFill/>
        </p:spPr>
        <p:txBody>
          <a:bodyPr wrap="square">
            <a:spAutoFit/>
          </a:bodyPr>
          <a:lstStyle/>
          <a:p>
            <a:pPr algn="l">
              <a:lnSpc>
                <a:spcPct val="115000"/>
              </a:lnSpc>
            </a:pPr>
            <a:r>
              <a:rPr sz="4600" b="1">
                <a:solidFill>
                  <a:srgbClr val="0B0B0B"/>
                </a:solidFill>
                <a:latin typeface="DejaVu Sans"/>
              </a:rPr>
              <a:t>G.A.T.E.S. — Gate 1</a:t>
            </a:r>
          </a:p>
        </p:txBody>
      </p:sp>
      <p:sp>
        <p:nvSpPr>
          <p:cNvPr id="3" name="TextBox 2"/>
          <p:cNvSpPr txBox="1"/>
          <p:nvPr/>
        </p:nvSpPr>
        <p:spPr>
          <a:xfrm>
            <a:off x="822960" y="3200400"/>
            <a:ext cx="10515600" cy="914400"/>
          </a:xfrm>
          <a:prstGeom prst="rect">
            <a:avLst/>
          </a:prstGeom>
          <a:noFill/>
        </p:spPr>
        <p:txBody>
          <a:bodyPr wrap="square">
            <a:spAutoFit/>
          </a:bodyPr>
          <a:lstStyle/>
          <a:p>
            <a:pPr algn="l">
              <a:lnSpc>
                <a:spcPct val="115000"/>
              </a:lnSpc>
            </a:pPr>
            <a:r>
              <a:rPr sz="2000" b="0">
                <a:solidFill>
                  <a:srgbClr val="52514E"/>
                </a:solidFill>
                <a:latin typeface="DejaVu Sans"/>
              </a:rPr>
              <a:t>Execution validity for autonomous research agents</a:t>
            </a:r>
          </a:p>
        </p:txBody>
      </p:sp>
      <p:sp>
        <p:nvSpPr>
          <p:cNvPr id="4" name="TextBox 3"/>
          <p:cNvSpPr txBox="1"/>
          <p:nvPr/>
        </p:nvSpPr>
        <p:spPr>
          <a:xfrm>
            <a:off x="822960" y="3794760"/>
            <a:ext cx="10515600" cy="914400"/>
          </a:xfrm>
          <a:prstGeom prst="rect">
            <a:avLst/>
          </a:prstGeom>
          <a:noFill/>
        </p:spPr>
        <p:txBody>
          <a:bodyPr wrap="square">
            <a:spAutoFit/>
          </a:bodyPr>
          <a:lstStyle/>
          <a:p>
            <a:pPr algn="l">
              <a:lnSpc>
                <a:spcPct val="115000"/>
              </a:lnSpc>
            </a:pPr>
            <a:r>
              <a:rPr sz="1500" b="0">
                <a:solidFill>
                  <a:srgbClr val="8A8880"/>
                </a:solidFill>
                <a:latin typeface="DejaVu Sans"/>
              </a:rPr>
              <a:t>Checks · metrics · runs · measured impact on Agent Laboratory</a:t>
            </a:r>
          </a:p>
        </p:txBody>
      </p:sp>
      <p:sp>
        <p:nvSpPr>
          <p:cNvPr id="5" name="TextBox 4"/>
          <p:cNvSpPr txBox="1"/>
          <p:nvPr/>
        </p:nvSpPr>
        <p:spPr>
          <a:xfrm>
            <a:off x="822960" y="5760720"/>
            <a:ext cx="10515600" cy="457200"/>
          </a:xfrm>
          <a:prstGeom prst="rect">
            <a:avLst/>
          </a:prstGeom>
          <a:noFill/>
        </p:spPr>
        <p:txBody>
          <a:bodyPr wrap="square">
            <a:spAutoFit/>
          </a:bodyPr>
          <a:lstStyle/>
          <a:p>
            <a:pPr algn="l">
              <a:lnSpc>
                <a:spcPct val="115000"/>
              </a:lnSpc>
            </a:pPr>
            <a:r>
              <a:rPr sz="1100" b="0">
                <a:solidFill>
                  <a:srgbClr val="8A8880"/>
                </a:solidFill>
                <a:latin typeface="DejaVu Sans"/>
              </a:rPr>
              <a:t>2026-08-15   ·   247 gate tests, 63 integration tests   ·   every figure a recorded measurement or a cited number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THE RUN</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Data efficiency, with and without Gate 1</a:t>
            </a:r>
          </a:p>
        </p:txBody>
      </p:sp>
      <p:sp>
        <p:nvSpPr>
          <p:cNvPr id="4" name="TextBox 3"/>
          <p:cNvSpPr txBox="1"/>
          <p:nvPr/>
        </p:nvSpPr>
        <p:spPr>
          <a:xfrm>
            <a:off x="548640" y="1371600"/>
            <a:ext cx="11064240" cy="914400"/>
          </a:xfrm>
          <a:prstGeom prst="rect">
            <a:avLst/>
          </a:prstGeom>
          <a:noFill/>
        </p:spPr>
        <p:txBody>
          <a:bodyPr wrap="square">
            <a:spAutoFit/>
          </a:bodyPr>
          <a:lstStyle/>
          <a:p>
            <a:pPr algn="l">
              <a:lnSpc>
                <a:spcPct val="115000"/>
              </a:lnSpc>
            </a:pPr>
            <a:r>
              <a:rPr sz="1300" b="0">
                <a:solidFill>
                  <a:srgbClr val="52514E"/>
                </a:solidFill>
                <a:latin typeface="DejaVu Sans"/>
              </a:rPr>
              <a:t>Question given to the agent: how much labelled data does a classifier need? Train the same model on 25% of the pool and on all of it, and report both test accuracies and their ratio — three values.</a:t>
            </a:r>
          </a:p>
          <a:p>
            <a:pPr algn="l">
              <a:lnSpc>
                <a:spcPct val="115000"/>
              </a:lnSpc>
            </a:pPr>
            <a:r>
              <a:rPr sz="1100" b="0">
                <a:solidFill>
                  <a:srgbClr val="8A8880"/>
                </a:solidFill>
                <a:latin typeface="DejaVu Sans"/>
              </a:rPr>
              <a:t>Engineer: deepseek-v4-flash (reasoning_effort=low). Gate 1's own two jobs: a local qwen3:8b, free per call and never consulted for a verdict. Both arms use both models, so neither is advantaged — they differ only in what decides that an experiment succeeded.</a:t>
            </a:r>
          </a:p>
        </p:txBody>
      </p:sp>
      <p:graphicFrame>
        <p:nvGraphicFramePr>
          <p:cNvPr id="5" name="Table 4"/>
          <p:cNvGraphicFramePr>
            <a:graphicFrameLocks noGrp="1"/>
          </p:cNvGraphicFramePr>
          <p:nvPr/>
        </p:nvGraphicFramePr>
        <p:xfrm>
          <a:off x="548640" y="2743200"/>
          <a:ext cx="11064240" cy="2523744"/>
        </p:xfrm>
        <a:graphic>
          <a:graphicData uri="http://schemas.openxmlformats.org/drawingml/2006/table">
            <a:tbl>
              <a:tblPr firstRow="1" bandRow="1">
                <a:tableStyleId>{5C22544A-7EE6-4342-B048-85BDC9FD1C3A}</a:tableStyleId>
              </a:tblPr>
              <a:tblGrid>
                <a:gridCol w="5577840"/>
                <a:gridCol w="2743200"/>
                <a:gridCol w="2743200"/>
              </a:tblGrid>
              <a:tr h="420624">
                <a:tc>
                  <a:txBody>
                    <a:bodyPr/>
                    <a:lstStyle/>
                    <a:p>
                      <a:pPr>
                        <a:defRPr sz="1300" b="1">
                          <a:solidFill>
                            <a:srgbClr val="0B0B0B"/>
                          </a:solidFill>
                          <a:latin typeface="DejaVu Sans"/>
                        </a:defRPr>
                      </a:pPr>
                    </a:p>
                  </a:txBody>
                  <a:tcPr>
                    <a:solidFill>
                      <a:srgbClr val="F4F3EE"/>
                    </a:solidFill>
                  </a:tcPr>
                </a:tc>
                <a:tc>
                  <a:txBody>
                    <a:bodyPr/>
                    <a:lstStyle/>
                    <a:p>
                      <a:pPr>
                        <a:defRPr sz="1300" b="1">
                          <a:solidFill>
                            <a:srgbClr val="0B0B0B"/>
                          </a:solidFill>
                          <a:latin typeface="DejaVu Sans"/>
                        </a:defRPr>
                      </a:pPr>
                      <a:r>
                        <a:t>with Gate 1</a:t>
                      </a:r>
                    </a:p>
                  </a:txBody>
                  <a:tcPr>
                    <a:solidFill>
                      <a:srgbClr val="F4F3EE"/>
                    </a:solidFill>
                  </a:tcPr>
                </a:tc>
                <a:tc>
                  <a:txBody>
                    <a:bodyPr/>
                    <a:lstStyle/>
                    <a:p>
                      <a:pPr>
                        <a:defRPr sz="1300" b="1">
                          <a:solidFill>
                            <a:srgbClr val="0B0B0B"/>
                          </a:solidFill>
                          <a:latin typeface="DejaVu Sans"/>
                        </a:defRPr>
                      </a:pPr>
                      <a:r>
                        <a:t>without Gate 1</a:t>
                      </a:r>
                    </a:p>
                  </a:txBody>
                  <a:tcPr>
                    <a:solidFill>
                      <a:srgbClr val="F4F3EE"/>
                    </a:solidFill>
                  </a:tcPr>
                </a:tc>
              </a:tr>
              <a:tr h="420624">
                <a:tc>
                  <a:txBody>
                    <a:bodyPr/>
                    <a:lstStyle/>
                    <a:p>
                      <a:pPr>
                        <a:defRPr sz="1300" b="0">
                          <a:solidFill>
                            <a:srgbClr val="52514E"/>
                          </a:solidFill>
                          <a:latin typeface="DejaVu Sans"/>
                        </a:defRPr>
                      </a:pPr>
                      <a:r>
                        <a:t>accepted a run</a:t>
                      </a:r>
                    </a:p>
                  </a:txBody>
                  <a:tcPr>
                    <a:solidFill>
                      <a:srgbClr val="FCFCFB"/>
                    </a:solidFill>
                  </a:tcPr>
                </a:tc>
                <a:tc>
                  <a:txBody>
                    <a:bodyPr/>
                    <a:lstStyle/>
                    <a:p>
                      <a:pPr>
                        <a:defRPr sz="1300" b="0">
                          <a:solidFill>
                            <a:srgbClr val="52514E"/>
                          </a:solidFill>
                          <a:latin typeface="DejaVu Sans"/>
                        </a:defRPr>
                      </a:pPr>
                      <a:r>
                        <a:t>yes</a:t>
                      </a:r>
                    </a:p>
                  </a:txBody>
                  <a:tcPr>
                    <a:solidFill>
                      <a:srgbClr val="FCFCFB"/>
                    </a:solidFill>
                  </a:tcPr>
                </a:tc>
                <a:tc>
                  <a:txBody>
                    <a:bodyPr/>
                    <a:lstStyle/>
                    <a:p>
                      <a:pPr>
                        <a:defRPr sz="1300" b="0">
                          <a:solidFill>
                            <a:srgbClr val="52514E"/>
                          </a:solidFill>
                          <a:latin typeface="DejaVu Sans"/>
                        </a:defRPr>
                      </a:pPr>
                      <a:r>
                        <a:t>yes</a:t>
                      </a:r>
                    </a:p>
                  </a:txBody>
                  <a:tcPr>
                    <a:solidFill>
                      <a:srgbClr val="FCFCFB"/>
                    </a:solidFill>
                  </a:tcPr>
                </a:tc>
              </a:tr>
              <a:tr h="420624">
                <a:tc>
                  <a:txBody>
                    <a:bodyPr/>
                    <a:lstStyle/>
                    <a:p>
                      <a:pPr>
                        <a:defRPr sz="1300" b="0">
                          <a:solidFill>
                            <a:srgbClr val="52514E"/>
                          </a:solidFill>
                          <a:latin typeface="DejaVu Sans"/>
                        </a:defRPr>
                      </a:pPr>
                      <a:r>
                        <a:t>turns used</a:t>
                      </a:r>
                    </a:p>
                  </a:txBody>
                  <a:tcPr>
                    <a:solidFill>
                      <a:srgbClr val="FCFCFB"/>
                    </a:solidFill>
                  </a:tcPr>
                </a:tc>
                <a:tc>
                  <a:txBody>
                    <a:bodyPr/>
                    <a:lstStyle/>
                    <a:p>
                      <a:pPr>
                        <a:defRPr sz="1300" b="0">
                          <a:solidFill>
                            <a:srgbClr val="52514E"/>
                          </a:solidFill>
                          <a:latin typeface="DejaVu Sans"/>
                        </a:defRPr>
                      </a:pPr>
                      <a:r>
                        <a:t>2</a:t>
                      </a:r>
                    </a:p>
                  </a:txBody>
                  <a:tcPr>
                    <a:solidFill>
                      <a:srgbClr val="FCFCFB"/>
                    </a:solidFill>
                  </a:tcPr>
                </a:tc>
                <a:tc>
                  <a:txBody>
                    <a:bodyPr/>
                    <a:lstStyle/>
                    <a:p>
                      <a:pPr>
                        <a:defRPr sz="1300" b="0">
                          <a:solidFill>
                            <a:srgbClr val="52514E"/>
                          </a:solidFill>
                          <a:latin typeface="DejaVu Sans"/>
                        </a:defRPr>
                      </a:pPr>
                      <a:r>
                        <a:t>1</a:t>
                      </a:r>
                    </a:p>
                  </a:txBody>
                  <a:tcPr>
                    <a:solidFill>
                      <a:srgbClr val="FCFCFB"/>
                    </a:solidFill>
                  </a:tcPr>
                </a:tc>
              </a:tr>
              <a:tr h="420624">
                <a:tc>
                  <a:txBody>
                    <a:bodyPr/>
                    <a:lstStyle/>
                    <a:p>
                      <a:pPr>
                        <a:defRPr sz="1300" b="0">
                          <a:solidFill>
                            <a:srgbClr val="52514E"/>
                          </a:solidFill>
                          <a:latin typeface="DejaVu Sans"/>
                        </a:defRPr>
                      </a:pPr>
                      <a:r>
                        <a:t>numbers reported</a:t>
                      </a:r>
                    </a:p>
                  </a:txBody>
                  <a:tcPr>
                    <a:solidFill>
                      <a:srgbClr val="FCFCFB"/>
                    </a:solidFill>
                  </a:tcPr>
                </a:tc>
                <a:tc>
                  <a:txBody>
                    <a:bodyPr/>
                    <a:lstStyle/>
                    <a:p>
                      <a:pPr>
                        <a:defRPr sz="1300" b="0">
                          <a:solidFill>
                            <a:srgbClr val="52514E"/>
                          </a:solidFill>
                          <a:latin typeface="DejaVu Sans"/>
                        </a:defRPr>
                      </a:pPr>
                      <a:r>
                        <a:t>6</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r>
              <a:tr h="420624">
                <a:tc>
                  <a:txBody>
                    <a:bodyPr/>
                    <a:lstStyle/>
                    <a:p>
                      <a:pPr>
                        <a:defRPr sz="1300" b="0">
                          <a:solidFill>
                            <a:srgbClr val="52514E"/>
                          </a:solidFill>
                          <a:latin typeface="DejaVu Sans"/>
                        </a:defRPr>
                      </a:pPr>
                      <a:r>
                        <a:t>numbers checkable against an execution</a:t>
                      </a:r>
                    </a:p>
                  </a:txBody>
                  <a:tcPr>
                    <a:solidFill>
                      <a:srgbClr val="FCFCFB"/>
                    </a:solidFill>
                  </a:tcPr>
                </a:tc>
                <a:tc>
                  <a:txBody>
                    <a:bodyPr/>
                    <a:lstStyle/>
                    <a:p>
                      <a:pPr>
                        <a:defRPr sz="1300" b="0">
                          <a:solidFill>
                            <a:srgbClr val="52514E"/>
                          </a:solidFill>
                          <a:latin typeface="DejaVu Sans"/>
                        </a:defRPr>
                      </a:pPr>
                      <a:r>
                        <a:t>6</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r>
              <a:tr h="420624">
                <a:tc>
                  <a:txBody>
                    <a:bodyPr/>
                    <a:lstStyle/>
                    <a:p>
                      <a:pPr>
                        <a:defRPr sz="1300" b="0">
                          <a:solidFill>
                            <a:srgbClr val="52514E"/>
                          </a:solidFill>
                          <a:latin typeface="DejaVu Sans"/>
                        </a:defRPr>
                      </a:pPr>
                      <a:r>
                        <a:t>reproduced on re-execution</a:t>
                      </a:r>
                    </a:p>
                  </a:txBody>
                  <a:tcPr>
                    <a:solidFill>
                      <a:srgbClr val="FCFCFB"/>
                    </a:solidFill>
                  </a:tcPr>
                </a:tc>
                <a:tc>
                  <a:txBody>
                    <a:bodyPr/>
                    <a:lstStyle/>
                    <a:p>
                      <a:pPr>
                        <a:defRPr sz="1300" b="0">
                          <a:solidFill>
                            <a:srgbClr val="52514E"/>
                          </a:solidFill>
                          <a:latin typeface="DejaVu Sans"/>
                        </a:defRPr>
                      </a:pPr>
                      <a:r>
                        <a:t>6</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r>
            </a:tbl>
          </a:graphicData>
        </a:graphic>
      </p:graphicFrame>
      <p:sp>
        <p:nvSpPr>
          <p:cNvPr id="6" name="Rounded Rectangle 5"/>
          <p:cNvSpPr/>
          <p:nvPr/>
        </p:nvSpPr>
        <p:spPr>
          <a:xfrm>
            <a:off x="548640" y="5486400"/>
            <a:ext cx="365760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596128"/>
            <a:ext cx="3291840" cy="548640"/>
          </a:xfrm>
          <a:prstGeom prst="rect">
            <a:avLst/>
          </a:prstGeom>
          <a:noFill/>
        </p:spPr>
        <p:txBody>
          <a:bodyPr wrap="square">
            <a:spAutoFit/>
          </a:bodyPr>
          <a:lstStyle/>
          <a:p>
            <a:pPr algn="l">
              <a:lnSpc>
                <a:spcPct val="115000"/>
              </a:lnSpc>
            </a:pPr>
            <a:r>
              <a:rPr sz="3000" b="1">
                <a:solidFill>
                  <a:srgbClr val="2A78D6"/>
                </a:solidFill>
                <a:latin typeface="DejaVu Sans"/>
              </a:rPr>
              <a:t>100%</a:t>
            </a:r>
          </a:p>
        </p:txBody>
      </p:sp>
      <p:sp>
        <p:nvSpPr>
          <p:cNvPr id="8" name="TextBox 7"/>
          <p:cNvSpPr txBox="1"/>
          <p:nvPr/>
        </p:nvSpPr>
        <p:spPr>
          <a:xfrm>
            <a:off x="731520" y="6236208"/>
            <a:ext cx="3291840" cy="411480"/>
          </a:xfrm>
          <a:prstGeom prst="rect">
            <a:avLst/>
          </a:prstGeom>
          <a:noFill/>
        </p:spPr>
        <p:txBody>
          <a:bodyPr wrap="square">
            <a:spAutoFit/>
          </a:bodyPr>
          <a:lstStyle/>
          <a:p>
            <a:pPr algn="l">
              <a:lnSpc>
                <a:spcPct val="115000"/>
              </a:lnSpc>
            </a:pPr>
            <a:r>
              <a:rPr sz="1000" b="0">
                <a:solidFill>
                  <a:srgbClr val="52514E"/>
                </a:solidFill>
                <a:latin typeface="DejaVu Sans"/>
              </a:rPr>
              <a:t>of the Gate 1 arm's numbers reproduced when its code was re-run</a:t>
            </a:r>
          </a:p>
        </p:txBody>
      </p:sp>
      <p:sp>
        <p:nvSpPr>
          <p:cNvPr id="9" name="Rounded Rectangle 8"/>
          <p:cNvSpPr/>
          <p:nvPr/>
        </p:nvSpPr>
        <p:spPr>
          <a:xfrm>
            <a:off x="4480560" y="5486400"/>
            <a:ext cx="365760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5596128"/>
            <a:ext cx="3291840" cy="548640"/>
          </a:xfrm>
          <a:prstGeom prst="rect">
            <a:avLst/>
          </a:prstGeom>
          <a:noFill/>
        </p:spPr>
        <p:txBody>
          <a:bodyPr wrap="square">
            <a:spAutoFit/>
          </a:bodyPr>
          <a:lstStyle/>
          <a:p>
            <a:pPr algn="l">
              <a:lnSpc>
                <a:spcPct val="115000"/>
              </a:lnSpc>
            </a:pPr>
            <a:r>
              <a:rPr sz="3000" b="1">
                <a:solidFill>
                  <a:srgbClr val="EB6834"/>
                </a:solidFill>
                <a:latin typeface="DejaVu Sans"/>
              </a:rPr>
              <a:t>0</a:t>
            </a:r>
          </a:p>
        </p:txBody>
      </p:sp>
      <p:sp>
        <p:nvSpPr>
          <p:cNvPr id="11" name="TextBox 10"/>
          <p:cNvSpPr txBox="1"/>
          <p:nvPr/>
        </p:nvSpPr>
        <p:spPr>
          <a:xfrm>
            <a:off x="4663440" y="6236208"/>
            <a:ext cx="3291840" cy="411480"/>
          </a:xfrm>
          <a:prstGeom prst="rect">
            <a:avLst/>
          </a:prstGeom>
          <a:noFill/>
        </p:spPr>
        <p:txBody>
          <a:bodyPr wrap="square">
            <a:spAutoFit/>
          </a:bodyPr>
          <a:lstStyle/>
          <a:p>
            <a:pPr algn="l">
              <a:lnSpc>
                <a:spcPct val="115000"/>
              </a:lnSpc>
            </a:pPr>
            <a:r>
              <a:rPr sz="1000" b="0">
                <a:solidFill>
                  <a:srgbClr val="52514E"/>
                </a:solidFill>
                <a:latin typeface="DejaVu Sans"/>
              </a:rPr>
              <a:t>numbers the ungated arm recorded through any contract</a:t>
            </a:r>
          </a:p>
        </p:txBody>
      </p:sp>
      <p:sp>
        <p:nvSpPr>
          <p:cNvPr id="12" name="Rounded Rectangle 11"/>
          <p:cNvSpPr/>
          <p:nvPr/>
        </p:nvSpPr>
        <p:spPr>
          <a:xfrm>
            <a:off x="8412480" y="5486400"/>
            <a:ext cx="320040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5596128"/>
            <a:ext cx="2834640" cy="548640"/>
          </a:xfrm>
          <a:prstGeom prst="rect">
            <a:avLst/>
          </a:prstGeom>
          <a:noFill/>
        </p:spPr>
        <p:txBody>
          <a:bodyPr wrap="square">
            <a:spAutoFit/>
          </a:bodyPr>
          <a:lstStyle/>
          <a:p>
            <a:pPr algn="l">
              <a:lnSpc>
                <a:spcPct val="115000"/>
              </a:lnSpc>
            </a:pPr>
            <a:r>
              <a:rPr sz="3000" b="1">
                <a:solidFill>
                  <a:srgbClr val="2A78D6"/>
                </a:solidFill>
                <a:latin typeface="DejaVu Sans"/>
              </a:rPr>
              <a:t>6</a:t>
            </a:r>
          </a:p>
        </p:txBody>
      </p:sp>
      <p:sp>
        <p:nvSpPr>
          <p:cNvPr id="14" name="TextBox 13"/>
          <p:cNvSpPr txBox="1"/>
          <p:nvPr/>
        </p:nvSpPr>
        <p:spPr>
          <a:xfrm>
            <a:off x="8595360" y="6236208"/>
            <a:ext cx="2834640" cy="411480"/>
          </a:xfrm>
          <a:prstGeom prst="rect">
            <a:avLst/>
          </a:prstGeom>
          <a:noFill/>
        </p:spPr>
        <p:txBody>
          <a:bodyPr wrap="square">
            <a:spAutoFit/>
          </a:bodyPr>
          <a:lstStyle/>
          <a:p>
            <a:pPr algn="l">
              <a:lnSpc>
                <a:spcPct val="115000"/>
              </a:lnSpc>
            </a:pPr>
            <a:r>
              <a:rPr sz="1000" b="0">
                <a:solidFill>
                  <a:srgbClr val="52514E"/>
                </a:solidFill>
                <a:latin typeface="DejaVu Sans"/>
              </a:rPr>
              <a:t>of the gated arm's numbers are checkable at 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ACROSS ALL RUNS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Every ablation record on disk — n = 5</a:t>
            </a:r>
          </a:p>
        </p:txBody>
      </p:sp>
      <p:graphicFrame>
        <p:nvGraphicFramePr>
          <p:cNvPr id="4" name="Table 3"/>
          <p:cNvGraphicFramePr>
            <a:graphicFrameLocks noGrp="1"/>
          </p:cNvGraphicFramePr>
          <p:nvPr/>
        </p:nvGraphicFramePr>
        <p:xfrm>
          <a:off x="548640" y="1645920"/>
          <a:ext cx="11064240" cy="3200400"/>
        </p:xfrm>
        <a:graphic>
          <a:graphicData uri="http://schemas.openxmlformats.org/drawingml/2006/table">
            <a:tbl>
              <a:tblPr firstRow="1" bandRow="1">
                <a:tableStyleId>{5C22544A-7EE6-4342-B048-85BDC9FD1C3A}</a:tableStyleId>
              </a:tblPr>
              <a:tblGrid>
                <a:gridCol w="5029200"/>
                <a:gridCol w="3017520"/>
                <a:gridCol w="3017520"/>
              </a:tblGrid>
              <a:tr h="457200">
                <a:tc>
                  <a:txBody>
                    <a:bodyPr/>
                    <a:lstStyle/>
                    <a:p>
                      <a:pPr>
                        <a:defRPr sz="1300" b="1">
                          <a:solidFill>
                            <a:srgbClr val="0B0B0B"/>
                          </a:solidFill>
                          <a:latin typeface="DejaVu Sans"/>
                        </a:defRPr>
                      </a:pPr>
                      <a:r>
                        <a:t>across 5 run(s)</a:t>
                      </a:r>
                    </a:p>
                  </a:txBody>
                  <a:tcPr>
                    <a:solidFill>
                      <a:srgbClr val="F4F3EE"/>
                    </a:solidFill>
                  </a:tcPr>
                </a:tc>
                <a:tc>
                  <a:txBody>
                    <a:bodyPr/>
                    <a:lstStyle/>
                    <a:p>
                      <a:pPr>
                        <a:defRPr sz="1300" b="1">
                          <a:solidFill>
                            <a:srgbClr val="0B0B0B"/>
                          </a:solidFill>
                          <a:latin typeface="DejaVu Sans"/>
                        </a:defRPr>
                      </a:pPr>
                      <a:r>
                        <a:t>with Gate 1</a:t>
                      </a:r>
                    </a:p>
                  </a:txBody>
                  <a:tcPr>
                    <a:solidFill>
                      <a:srgbClr val="F4F3EE"/>
                    </a:solidFill>
                  </a:tcPr>
                </a:tc>
                <a:tc>
                  <a:txBody>
                    <a:bodyPr/>
                    <a:lstStyle/>
                    <a:p>
                      <a:pPr>
                        <a:defRPr sz="1300" b="1">
                          <a:solidFill>
                            <a:srgbClr val="0B0B0B"/>
                          </a:solidFill>
                          <a:latin typeface="DejaVu Sans"/>
                        </a:defRPr>
                      </a:pPr>
                      <a:r>
                        <a:t>without Gate 1</a:t>
                      </a:r>
                    </a:p>
                  </a:txBody>
                  <a:tcPr>
                    <a:solidFill>
                      <a:srgbClr val="F4F3EE"/>
                    </a:solidFill>
                  </a:tcPr>
                </a:tc>
              </a:tr>
              <a:tr h="457200">
                <a:tc>
                  <a:txBody>
                    <a:bodyPr/>
                    <a:lstStyle/>
                    <a:p>
                      <a:pPr>
                        <a:defRPr sz="1300" b="0">
                          <a:solidFill>
                            <a:srgbClr val="52514E"/>
                          </a:solidFill>
                          <a:latin typeface="DejaVu Sans"/>
                        </a:defRPr>
                      </a:pPr>
                      <a:r>
                        <a:t>accepted a run</a:t>
                      </a:r>
                    </a:p>
                  </a:txBody>
                  <a:tcPr>
                    <a:solidFill>
                      <a:srgbClr val="FCFCFB"/>
                    </a:solidFill>
                  </a:tcPr>
                </a:tc>
                <a:tc>
                  <a:txBody>
                    <a:bodyPr/>
                    <a:lstStyle/>
                    <a:p>
                      <a:pPr>
                        <a:defRPr sz="1300" b="0">
                          <a:solidFill>
                            <a:srgbClr val="52514E"/>
                          </a:solidFill>
                          <a:latin typeface="DejaVu Sans"/>
                        </a:defRPr>
                      </a:pPr>
                      <a:r>
                        <a:t>5 of 5</a:t>
                      </a:r>
                    </a:p>
                  </a:txBody>
                  <a:tcPr>
                    <a:solidFill>
                      <a:srgbClr val="FCFCFB"/>
                    </a:solidFill>
                  </a:tcPr>
                </a:tc>
                <a:tc>
                  <a:txBody>
                    <a:bodyPr/>
                    <a:lstStyle/>
                    <a:p>
                      <a:pPr>
                        <a:defRPr sz="1300" b="0">
                          <a:solidFill>
                            <a:srgbClr val="52514E"/>
                          </a:solidFill>
                          <a:latin typeface="DejaVu Sans"/>
                        </a:defRPr>
                      </a:pPr>
                      <a:r>
                        <a:t>5 of 5</a:t>
                      </a:r>
                    </a:p>
                  </a:txBody>
                  <a:tcPr>
                    <a:solidFill>
                      <a:srgbClr val="FCFCFB"/>
                    </a:solidFill>
                  </a:tcPr>
                </a:tc>
              </a:tr>
              <a:tr h="457200">
                <a:tc>
                  <a:txBody>
                    <a:bodyPr/>
                    <a:lstStyle/>
                    <a:p>
                      <a:pPr>
                        <a:defRPr sz="1300" b="0">
                          <a:solidFill>
                            <a:srgbClr val="52514E"/>
                          </a:solidFill>
                          <a:latin typeface="DejaVu Sans"/>
                        </a:defRPr>
                      </a:pPr>
                      <a:r>
                        <a:t>mean turns used</a:t>
                      </a:r>
                    </a:p>
                  </a:txBody>
                  <a:tcPr>
                    <a:solidFill>
                      <a:srgbClr val="FCFCFB"/>
                    </a:solidFill>
                  </a:tcPr>
                </a:tc>
                <a:tc>
                  <a:txBody>
                    <a:bodyPr/>
                    <a:lstStyle/>
                    <a:p>
                      <a:pPr>
                        <a:defRPr sz="1300" b="0">
                          <a:solidFill>
                            <a:srgbClr val="52514E"/>
                          </a:solidFill>
                          <a:latin typeface="DejaVu Sans"/>
                        </a:defRPr>
                      </a:pPr>
                      <a:r>
                        <a:t>2.0</a:t>
                      </a:r>
                    </a:p>
                  </a:txBody>
                  <a:tcPr>
                    <a:solidFill>
                      <a:srgbClr val="FCFCFB"/>
                    </a:solidFill>
                  </a:tcPr>
                </a:tc>
                <a:tc>
                  <a:txBody>
                    <a:bodyPr/>
                    <a:lstStyle/>
                    <a:p>
                      <a:pPr>
                        <a:defRPr sz="1300" b="0">
                          <a:solidFill>
                            <a:srgbClr val="52514E"/>
                          </a:solidFill>
                          <a:latin typeface="DejaVu Sans"/>
                        </a:defRPr>
                      </a:pPr>
                      <a:r>
                        <a:t>1.0</a:t>
                      </a:r>
                    </a:p>
                  </a:txBody>
                  <a:tcPr>
                    <a:solidFill>
                      <a:srgbClr val="FCFCFB"/>
                    </a:solidFill>
                  </a:tcPr>
                </a:tc>
              </a:tr>
              <a:tr h="457200">
                <a:tc>
                  <a:txBody>
                    <a:bodyPr/>
                    <a:lstStyle/>
                    <a:p>
                      <a:pPr>
                        <a:defRPr sz="1300" b="0">
                          <a:solidFill>
                            <a:srgbClr val="52514E"/>
                          </a:solidFill>
                          <a:latin typeface="DejaVu Sans"/>
                        </a:defRPr>
                      </a:pPr>
                      <a:r>
                        <a:t>numbers reported</a:t>
                      </a:r>
                    </a:p>
                  </a:txBody>
                  <a:tcPr>
                    <a:solidFill>
                      <a:srgbClr val="FCFCFB"/>
                    </a:solidFill>
                  </a:tcPr>
                </a:tc>
                <a:tc>
                  <a:txBody>
                    <a:bodyPr/>
                    <a:lstStyle/>
                    <a:p>
                      <a:pPr>
                        <a:defRPr sz="1300" b="0">
                          <a:solidFill>
                            <a:srgbClr val="52514E"/>
                          </a:solidFill>
                          <a:latin typeface="DejaVu Sans"/>
                        </a:defRPr>
                      </a:pPr>
                      <a:r>
                        <a:t>24</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r>
              <a:tr h="457200">
                <a:tc>
                  <a:txBody>
                    <a:bodyPr/>
                    <a:lstStyle/>
                    <a:p>
                      <a:pPr>
                        <a:defRPr sz="1300" b="0">
                          <a:solidFill>
                            <a:srgbClr val="52514E"/>
                          </a:solidFill>
                          <a:latin typeface="DejaVu Sans"/>
                        </a:defRPr>
                      </a:pPr>
                      <a:r>
                        <a:t>numbers checkable</a:t>
                      </a:r>
                    </a:p>
                  </a:txBody>
                  <a:tcPr>
                    <a:solidFill>
                      <a:srgbClr val="FCFCFB"/>
                    </a:solidFill>
                  </a:tcPr>
                </a:tc>
                <a:tc>
                  <a:txBody>
                    <a:bodyPr/>
                    <a:lstStyle/>
                    <a:p>
                      <a:pPr>
                        <a:defRPr sz="1300" b="0">
                          <a:solidFill>
                            <a:srgbClr val="52514E"/>
                          </a:solidFill>
                          <a:latin typeface="DejaVu Sans"/>
                        </a:defRPr>
                      </a:pPr>
                      <a:r>
                        <a:t>24</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r>
              <a:tr h="457200">
                <a:tc>
                  <a:txBody>
                    <a:bodyPr/>
                    <a:lstStyle/>
                    <a:p>
                      <a:pPr>
                        <a:defRPr sz="1300" b="0">
                          <a:solidFill>
                            <a:srgbClr val="52514E"/>
                          </a:solidFill>
                          <a:latin typeface="DejaVu Sans"/>
                        </a:defRPr>
                      </a:pPr>
                      <a:r>
                        <a:t>reproduced on re-execution</a:t>
                      </a:r>
                    </a:p>
                  </a:txBody>
                  <a:tcPr>
                    <a:solidFill>
                      <a:srgbClr val="FCFCFB"/>
                    </a:solidFill>
                  </a:tcPr>
                </a:tc>
                <a:tc>
                  <a:txBody>
                    <a:bodyPr/>
                    <a:lstStyle/>
                    <a:p>
                      <a:pPr>
                        <a:defRPr sz="1300" b="0">
                          <a:solidFill>
                            <a:srgbClr val="52514E"/>
                          </a:solidFill>
                          <a:latin typeface="DejaVu Sans"/>
                        </a:defRPr>
                      </a:pPr>
                      <a:r>
                        <a:t>24 (100%)</a:t>
                      </a:r>
                    </a:p>
                  </a:txBody>
                  <a:tcPr>
                    <a:solidFill>
                      <a:srgbClr val="FCFCFB"/>
                    </a:solidFill>
                  </a:tcPr>
                </a:tc>
                <a:tc>
                  <a:txBody>
                    <a:bodyPr/>
                    <a:lstStyle/>
                    <a:p>
                      <a:pPr>
                        <a:defRPr sz="1300" b="0">
                          <a:solidFill>
                            <a:srgbClr val="52514E"/>
                          </a:solidFill>
                          <a:latin typeface="DejaVu Sans"/>
                        </a:defRPr>
                      </a:pPr>
                      <a:r>
                        <a:t>0 (—)</a:t>
                      </a:r>
                    </a:p>
                  </a:txBody>
                  <a:tcPr>
                    <a:solidFill>
                      <a:srgbClr val="FCFCFB"/>
                    </a:solidFill>
                  </a:tcPr>
                </a:tc>
              </a:tr>
              <a:tr h="457200">
                <a:tc>
                  <a:txBody>
                    <a:bodyPr/>
                    <a:lstStyle/>
                    <a:p>
                      <a:pPr>
                        <a:defRPr sz="1300" b="0">
                          <a:solidFill>
                            <a:srgbClr val="52514E"/>
                          </a:solidFill>
                          <a:latin typeface="DejaVu Sans"/>
                        </a:defRPr>
                      </a:pPr>
                      <a:r>
                        <a:t>accepted what the other arm rejected</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c>
                  <a:txBody>
                    <a:bodyPr/>
                    <a:lstStyle/>
                    <a:p>
                      <a:pPr>
                        <a:defRPr sz="1300" b="0">
                          <a:solidFill>
                            <a:srgbClr val="52514E"/>
                          </a:solidFill>
                          <a:latin typeface="DejaVu Sans"/>
                        </a:defRPr>
                      </a:pPr>
                      <a:r>
                        <a:t>5</a:t>
                      </a:r>
                    </a:p>
                  </a:txBody>
                  <a:tcPr>
                    <a:solidFill>
                      <a:srgbClr val="FCFCFB"/>
                    </a:solidFill>
                  </a:tcPr>
                </a:tc>
              </a:tr>
            </a:tbl>
          </a:graphicData>
        </a:graphic>
      </p:graphicFrame>
      <p:sp>
        <p:nvSpPr>
          <p:cNvPr id="5" name="TextBox 4"/>
          <p:cNvSpPr txBox="1"/>
          <p:nvPr/>
        </p:nvSpPr>
        <p:spPr>
          <a:xfrm>
            <a:off x="548640" y="5394960"/>
            <a:ext cx="11064240" cy="914400"/>
          </a:xfrm>
          <a:prstGeom prst="rect">
            <a:avLst/>
          </a:prstGeom>
          <a:noFill/>
        </p:spPr>
        <p:txBody>
          <a:bodyPr wrap="square">
            <a:spAutoFit/>
          </a:bodyPr>
          <a:lstStyle/>
          <a:p>
            <a:pPr algn="l">
              <a:lnSpc>
                <a:spcPct val="115000"/>
              </a:lnSpc>
            </a:pPr>
            <a:r>
              <a:rPr sz="1200" b="0">
                <a:solidFill>
                  <a:srgbClr val="EB6834"/>
                </a:solidFill>
                <a:latin typeface="DejaVu Sans"/>
              </a:rPr>
              <a:t>A run that predates a measurement is reported as not measured, never as zero — the distinction cost us once already.</a:t>
            </a:r>
          </a:p>
          <a:p>
            <a:pPr algn="l">
              <a:lnSpc>
                <a:spcPct val="115000"/>
              </a:lnSpc>
            </a:pPr>
            <a:r>
              <a:rPr sz="1100" b="0">
                <a:solidFill>
                  <a:srgbClr val="8A8880"/>
                </a:solidFill>
                <a:latin typeface="DejaVu Sans"/>
              </a:rPr>
              <a:t>Repeats are at temperature 0.7: at 0.0 a repeat is the same experiment run twice, not a second sample.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THE TWO REPORTS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What each arm would hand the writing agent</a:t>
            </a:r>
          </a:p>
        </p:txBody>
      </p:sp>
      <p:graphicFrame>
        <p:nvGraphicFramePr>
          <p:cNvPr id="4" name="Table 3"/>
          <p:cNvGraphicFramePr>
            <a:graphicFrameLocks noGrp="1"/>
          </p:cNvGraphicFramePr>
          <p:nvPr/>
        </p:nvGraphicFramePr>
        <p:xfrm>
          <a:off x="548640" y="1554480"/>
          <a:ext cx="11064240" cy="2304288"/>
        </p:xfrm>
        <a:graphic>
          <a:graphicData uri="http://schemas.openxmlformats.org/drawingml/2006/table">
            <a:tbl>
              <a:tblPr firstRow="1" bandRow="1">
                <a:tableStyleId>{5C22544A-7EE6-4342-B048-85BDC9FD1C3A}</a:tableStyleId>
              </a:tblPr>
              <a:tblGrid>
                <a:gridCol w="3108960"/>
                <a:gridCol w="2011680"/>
                <a:gridCol w="2011680"/>
                <a:gridCol w="1920240"/>
                <a:gridCol w="2011680"/>
              </a:tblGrid>
              <a:tr h="329184">
                <a:tc>
                  <a:txBody>
                    <a:bodyPr/>
                    <a:lstStyle/>
                    <a:p>
                      <a:pPr>
                        <a:defRPr sz="1100" b="1">
                          <a:solidFill>
                            <a:srgbClr val="0B0B0B"/>
                          </a:solidFill>
                          <a:latin typeface="DejaVu Sans"/>
                        </a:defRPr>
                      </a:pPr>
                      <a:r>
                        <a:t>metric</a:t>
                      </a:r>
                    </a:p>
                  </a:txBody>
                  <a:tcPr>
                    <a:solidFill>
                      <a:srgbClr val="F4F3EE"/>
                    </a:solidFill>
                  </a:tcPr>
                </a:tc>
                <a:tc>
                  <a:txBody>
                    <a:bodyPr/>
                    <a:lstStyle/>
                    <a:p>
                      <a:pPr>
                        <a:defRPr sz="1100" b="1">
                          <a:solidFill>
                            <a:srgbClr val="0B0B0B"/>
                          </a:solidFill>
                          <a:latin typeface="DejaVu Sans"/>
                        </a:defRPr>
                      </a:pPr>
                      <a:r>
                        <a:t>Gate 1: reported</a:t>
                      </a:r>
                    </a:p>
                  </a:txBody>
                  <a:tcPr>
                    <a:solidFill>
                      <a:srgbClr val="F4F3EE"/>
                    </a:solidFill>
                  </a:tcPr>
                </a:tc>
                <a:tc>
                  <a:txBody>
                    <a:bodyPr/>
                    <a:lstStyle/>
                    <a:p>
                      <a:pPr>
                        <a:defRPr sz="1100" b="1">
                          <a:solidFill>
                            <a:srgbClr val="0B0B0B"/>
                          </a:solidFill>
                          <a:latin typeface="DejaVu Sans"/>
                        </a:defRPr>
                      </a:pPr>
                      <a:r>
                        <a:t>re-executed</a:t>
                      </a:r>
                    </a:p>
                  </a:txBody>
                  <a:tcPr>
                    <a:solidFill>
                      <a:srgbClr val="F4F3EE"/>
                    </a:solidFill>
                  </a:tcPr>
                </a:tc>
                <a:tc>
                  <a:txBody>
                    <a:bodyPr/>
                    <a:lstStyle/>
                    <a:p>
                      <a:pPr>
                        <a:defRPr sz="1100" b="1">
                          <a:solidFill>
                            <a:srgbClr val="0B0B0B"/>
                          </a:solidFill>
                          <a:latin typeface="DejaVu Sans"/>
                        </a:defRPr>
                      </a:pPr>
                      <a:r>
                        <a:t>verdict</a:t>
                      </a:r>
                    </a:p>
                  </a:txBody>
                  <a:tcPr>
                    <a:solidFill>
                      <a:srgbClr val="F4F3EE"/>
                    </a:solidFill>
                  </a:tcPr>
                </a:tc>
                <a:tc>
                  <a:txBody>
                    <a:bodyPr/>
                    <a:lstStyle/>
                    <a:p>
                      <a:pPr>
                        <a:defRPr sz="1100" b="1">
                          <a:solidFill>
                            <a:srgbClr val="0B0B0B"/>
                          </a:solidFill>
                          <a:latin typeface="DejaVu Sans"/>
                        </a:defRPr>
                      </a:pPr>
                      <a:r>
                        <a:t>no gate: reported</a:t>
                      </a:r>
                    </a:p>
                  </a:txBody>
                  <a:tcPr>
                    <a:solidFill>
                      <a:srgbClr val="F4F3EE"/>
                    </a:solidFill>
                  </a:tcPr>
                </a:tc>
              </a:tr>
              <a:tr h="329184">
                <a:tc>
                  <a:txBody>
                    <a:bodyPr/>
                    <a:lstStyle/>
                    <a:p>
                      <a:pPr>
                        <a:defRPr sz="1100" b="0">
                          <a:solidFill>
                            <a:srgbClr val="52514E"/>
                          </a:solidFill>
                          <a:latin typeface="DejaVu Sans"/>
                        </a:defRPr>
                      </a:pPr>
                      <a:r>
                        <a:t>eff.acc_at_100</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reproduced</a:t>
                      </a:r>
                    </a:p>
                  </a:txBody>
                  <a:tcPr>
                    <a:solidFill>
                      <a:srgbClr val="FCFCFB"/>
                    </a:solidFill>
                  </a:tcPr>
                </a:tc>
                <a:tc>
                  <a:txBody>
                    <a:bodyPr/>
                    <a:lstStyle/>
                    <a:p>
                      <a:pPr>
                        <a:defRPr sz="1100" b="0">
                          <a:solidFill>
                            <a:srgbClr val="52514E"/>
                          </a:solidFill>
                          <a:latin typeface="DejaVu Sans"/>
                        </a:defRPr>
                      </a:pPr>
                      <a:r>
                        <a:t>not recorded</a:t>
                      </a:r>
                    </a:p>
                  </a:txBody>
                  <a:tcPr>
                    <a:solidFill>
                      <a:srgbClr val="FCFCFB"/>
                    </a:solidFill>
                  </a:tcPr>
                </a:tc>
              </a:tr>
              <a:tr h="329184">
                <a:tc>
                  <a:txBody>
                    <a:bodyPr/>
                    <a:lstStyle/>
                    <a:p>
                      <a:pPr>
                        <a:defRPr sz="1100" b="0">
                          <a:solidFill>
                            <a:srgbClr val="52514E"/>
                          </a:solidFill>
                          <a:latin typeface="DejaVu Sans"/>
                        </a:defRPr>
                      </a:pPr>
                      <a:r>
                        <a:t>eff.acc_at_25</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reproduced</a:t>
                      </a:r>
                    </a:p>
                  </a:txBody>
                  <a:tcPr>
                    <a:solidFill>
                      <a:srgbClr val="FCFCFB"/>
                    </a:solidFill>
                  </a:tcPr>
                </a:tc>
                <a:tc>
                  <a:txBody>
                    <a:bodyPr/>
                    <a:lstStyle/>
                    <a:p>
                      <a:pPr>
                        <a:defRPr sz="1100" b="0">
                          <a:solidFill>
                            <a:srgbClr val="52514E"/>
                          </a:solidFill>
                          <a:latin typeface="DejaVu Sans"/>
                        </a:defRPr>
                      </a:pPr>
                      <a:r>
                        <a:t>not recorded</a:t>
                      </a:r>
                    </a:p>
                  </a:txBody>
                  <a:tcPr>
                    <a:solidFill>
                      <a:srgbClr val="FCFCFB"/>
                    </a:solidFill>
                  </a:tcPr>
                </a:tc>
              </a:tr>
              <a:tr h="329184">
                <a:tc>
                  <a:txBody>
                    <a:bodyPr/>
                    <a:lstStyle/>
                    <a:p>
                      <a:pPr>
                        <a:defRPr sz="1100" b="0">
                          <a:solidFill>
                            <a:srgbClr val="52514E"/>
                          </a:solidFill>
                          <a:latin typeface="DejaVu Sans"/>
                        </a:defRPr>
                      </a:pPr>
                      <a:r>
                        <a:t>eff.efficiency_ratio</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reproduced</a:t>
                      </a:r>
                    </a:p>
                  </a:txBody>
                  <a:tcPr>
                    <a:solidFill>
                      <a:srgbClr val="FCFCFB"/>
                    </a:solidFill>
                  </a:tcPr>
                </a:tc>
                <a:tc>
                  <a:txBody>
                    <a:bodyPr/>
                    <a:lstStyle/>
                    <a:p>
                      <a:pPr>
                        <a:defRPr sz="1100" b="0">
                          <a:solidFill>
                            <a:srgbClr val="52514E"/>
                          </a:solidFill>
                          <a:latin typeface="DejaVu Sans"/>
                        </a:defRPr>
                      </a:pPr>
                      <a:r>
                        <a:t>not recorded</a:t>
                      </a:r>
                    </a:p>
                  </a:txBody>
                  <a:tcPr>
                    <a:solidFill>
                      <a:srgbClr val="FCFCFB"/>
                    </a:solidFill>
                  </a:tcPr>
                </a:tc>
              </a:tr>
              <a:tr h="329184">
                <a:tc>
                  <a:txBody>
                    <a:bodyPr/>
                    <a:lstStyle/>
                    <a:p>
                      <a:pPr>
                        <a:defRPr sz="1100" b="0">
                          <a:solidFill>
                            <a:srgbClr val="52514E"/>
                          </a:solidFill>
                          <a:latin typeface="DejaVu Sans"/>
                        </a:defRPr>
                      </a:pPr>
                      <a:r>
                        <a:t>logreg_25_test_acc</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reproduced</a:t>
                      </a:r>
                    </a:p>
                  </a:txBody>
                  <a:tcPr>
                    <a:solidFill>
                      <a:srgbClr val="FCFCFB"/>
                    </a:solidFill>
                  </a:tcPr>
                </a:tc>
                <a:tc>
                  <a:txBody>
                    <a:bodyPr/>
                    <a:lstStyle/>
                    <a:p>
                      <a:pPr>
                        <a:defRPr sz="1100" b="0">
                          <a:solidFill>
                            <a:srgbClr val="52514E"/>
                          </a:solidFill>
                          <a:latin typeface="DejaVu Sans"/>
                        </a:defRPr>
                      </a:pPr>
                      <a:r>
                        <a:t>not recorded</a:t>
                      </a:r>
                    </a:p>
                  </a:txBody>
                  <a:tcPr>
                    <a:solidFill>
                      <a:srgbClr val="FCFCFB"/>
                    </a:solidFill>
                  </a:tcPr>
                </a:tc>
              </a:tr>
              <a:tr h="329184">
                <a:tc>
                  <a:txBody>
                    <a:bodyPr/>
                    <a:lstStyle/>
                    <a:p>
                      <a:pPr>
                        <a:defRPr sz="1100" b="0">
                          <a:solidFill>
                            <a:srgbClr val="52514E"/>
                          </a:solidFill>
                          <a:latin typeface="DejaVu Sans"/>
                        </a:defRPr>
                      </a:pPr>
                      <a:r>
                        <a:t>logreg_full_test_acc</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reproduced</a:t>
                      </a:r>
                    </a:p>
                  </a:txBody>
                  <a:tcPr>
                    <a:solidFill>
                      <a:srgbClr val="FCFCFB"/>
                    </a:solidFill>
                  </a:tcPr>
                </a:tc>
                <a:tc>
                  <a:txBody>
                    <a:bodyPr/>
                    <a:lstStyle/>
                    <a:p>
                      <a:pPr>
                        <a:defRPr sz="1100" b="0">
                          <a:solidFill>
                            <a:srgbClr val="52514E"/>
                          </a:solidFill>
                          <a:latin typeface="DejaVu Sans"/>
                        </a:defRPr>
                      </a:pPr>
                      <a:r>
                        <a:t>not recorded</a:t>
                      </a:r>
                    </a:p>
                  </a:txBody>
                  <a:tcPr>
                    <a:solidFill>
                      <a:srgbClr val="FCFCFB"/>
                    </a:solidFill>
                  </a:tcPr>
                </a:tc>
              </a:tr>
              <a:tr h="329184">
                <a:tc>
                  <a:txBody>
                    <a:bodyPr/>
                    <a:lstStyle/>
                    <a:p>
                      <a:pPr>
                        <a:defRPr sz="1100" b="0">
                          <a:solidFill>
                            <a:srgbClr val="52514E"/>
                          </a:solidFill>
                          <a:latin typeface="DejaVu Sans"/>
                        </a:defRPr>
                      </a:pPr>
                      <a:r>
                        <a:t>logreg_full_vs_25_acc_ratio</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1</a:t>
                      </a:r>
                    </a:p>
                  </a:txBody>
                  <a:tcPr>
                    <a:solidFill>
                      <a:srgbClr val="FCFCFB"/>
                    </a:solidFill>
                  </a:tcPr>
                </a:tc>
                <a:tc>
                  <a:txBody>
                    <a:bodyPr/>
                    <a:lstStyle/>
                    <a:p>
                      <a:pPr>
                        <a:defRPr sz="1100" b="0">
                          <a:solidFill>
                            <a:srgbClr val="52514E"/>
                          </a:solidFill>
                          <a:latin typeface="DejaVu Sans"/>
                        </a:defRPr>
                      </a:pPr>
                      <a:r>
                        <a:t>reproduced</a:t>
                      </a:r>
                    </a:p>
                  </a:txBody>
                  <a:tcPr>
                    <a:solidFill>
                      <a:srgbClr val="FCFCFB"/>
                    </a:solidFill>
                  </a:tcPr>
                </a:tc>
                <a:tc>
                  <a:txBody>
                    <a:bodyPr/>
                    <a:lstStyle/>
                    <a:p>
                      <a:pPr>
                        <a:defRPr sz="1100" b="0">
                          <a:solidFill>
                            <a:srgbClr val="52514E"/>
                          </a:solidFill>
                          <a:latin typeface="DejaVu Sans"/>
                        </a:defRPr>
                      </a:pPr>
                      <a:r>
                        <a:t>not recorded</a:t>
                      </a:r>
                    </a:p>
                  </a:txBody>
                  <a:tcPr>
                    <a:solidFill>
                      <a:srgbClr val="FCFCFB"/>
                    </a:solidFill>
                  </a:tcPr>
                </a:tc>
              </a:tr>
            </a:tbl>
          </a:graphicData>
        </a:graphic>
      </p:graphicFrame>
      <p:sp>
        <p:nvSpPr>
          <p:cNvPr id="5" name="TextBox 4"/>
          <p:cNvSpPr txBox="1"/>
          <p:nvPr/>
        </p:nvSpPr>
        <p:spPr>
          <a:xfrm>
            <a:off x="548640" y="5852160"/>
            <a:ext cx="11064240" cy="822960"/>
          </a:xfrm>
          <a:prstGeom prst="rect">
            <a:avLst/>
          </a:prstGeom>
          <a:noFill/>
        </p:spPr>
        <p:txBody>
          <a:bodyPr wrap="square">
            <a:spAutoFit/>
          </a:bodyPr>
          <a:lstStyle/>
          <a:p>
            <a:pPr algn="l">
              <a:lnSpc>
                <a:spcPct val="115000"/>
              </a:lnSpc>
            </a:pPr>
            <a:r>
              <a:rPr sz="1300" b="1">
                <a:solidFill>
                  <a:srgbClr val="EB6834"/>
                </a:solidFill>
                <a:latin typeface="DejaVu Sans"/>
              </a:rPr>
              <a:t>The accepted run recorded no values, so none of the numbers it would hand the writer can be checked against an execution.</a:t>
            </a:r>
          </a:p>
          <a:p>
            <a:pPr algn="l">
              <a:lnSpc>
                <a:spcPct val="115000"/>
              </a:lnSpc>
            </a:pPr>
            <a:r>
              <a:rPr sz="1100" b="0">
                <a:solidFill>
                  <a:srgbClr val="52514E"/>
                </a:solidFill>
                <a:latin typeface="DejaVu Sans"/>
              </a:rPr>
              <a:t>Accuracy here means one thing only: run the accepted code again and see whether the numbers it reported are the numbers it produces.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REPORT ACCURACY</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Both arms' reports, measured the same way</a:t>
            </a:r>
          </a:p>
        </p:txBody>
      </p:sp>
      <p:graphicFrame>
        <p:nvGraphicFramePr>
          <p:cNvPr id="4" name="Table 3"/>
          <p:cNvGraphicFramePr>
            <a:graphicFrameLocks noGrp="1"/>
          </p:cNvGraphicFramePr>
          <p:nvPr/>
        </p:nvGraphicFramePr>
        <p:xfrm>
          <a:off x="548640" y="1600200"/>
          <a:ext cx="11064240" cy="2523744"/>
        </p:xfrm>
        <a:graphic>
          <a:graphicData uri="http://schemas.openxmlformats.org/drawingml/2006/table">
            <a:tbl>
              <a:tblPr firstRow="1" bandRow="1">
                <a:tableStyleId>{5C22544A-7EE6-4342-B048-85BDC9FD1C3A}</a:tableStyleId>
              </a:tblPr>
              <a:tblGrid>
                <a:gridCol w="5029200"/>
                <a:gridCol w="3017520"/>
                <a:gridCol w="3017520"/>
              </a:tblGrid>
              <a:tr h="420624">
                <a:tc>
                  <a:txBody>
                    <a:bodyPr/>
                    <a:lstStyle/>
                    <a:p>
                      <a:pPr>
                        <a:defRPr sz="1300" b="1">
                          <a:solidFill>
                            <a:srgbClr val="0B0B0B"/>
                          </a:solidFill>
                          <a:latin typeface="DejaVu Sans"/>
                        </a:defRPr>
                      </a:pPr>
                    </a:p>
                  </a:txBody>
                  <a:tcPr>
                    <a:solidFill>
                      <a:srgbClr val="F4F3EE"/>
                    </a:solidFill>
                  </a:tcPr>
                </a:tc>
                <a:tc>
                  <a:txBody>
                    <a:bodyPr/>
                    <a:lstStyle/>
                    <a:p>
                      <a:pPr>
                        <a:defRPr sz="1300" b="1">
                          <a:solidFill>
                            <a:srgbClr val="0B0B0B"/>
                          </a:solidFill>
                          <a:latin typeface="DejaVu Sans"/>
                        </a:defRPr>
                      </a:pPr>
                      <a:r>
                        <a:t>with Gate 1</a:t>
                      </a:r>
                    </a:p>
                  </a:txBody>
                  <a:tcPr>
                    <a:solidFill>
                      <a:srgbClr val="F4F3EE"/>
                    </a:solidFill>
                  </a:tcPr>
                </a:tc>
                <a:tc>
                  <a:txBody>
                    <a:bodyPr/>
                    <a:lstStyle/>
                    <a:p>
                      <a:pPr>
                        <a:defRPr sz="1300" b="1">
                          <a:solidFill>
                            <a:srgbClr val="0B0B0B"/>
                          </a:solidFill>
                          <a:latin typeface="DejaVu Sans"/>
                        </a:defRPr>
                      </a:pPr>
                      <a:r>
                        <a:t>without Gate 1</a:t>
                      </a:r>
                    </a:p>
                  </a:txBody>
                  <a:tcPr>
                    <a:solidFill>
                      <a:srgbClr val="F4F3EE"/>
                    </a:solidFill>
                  </a:tcPr>
                </a:tc>
              </a:tr>
              <a:tr h="420624">
                <a:tc>
                  <a:txBody>
                    <a:bodyPr/>
                    <a:lstStyle/>
                    <a:p>
                      <a:pPr>
                        <a:defRPr sz="1300" b="0">
                          <a:solidFill>
                            <a:srgbClr val="52514E"/>
                          </a:solidFill>
                          <a:latin typeface="DejaVu Sans"/>
                        </a:defRPr>
                      </a:pPr>
                      <a:r>
                        <a:t>results the run produced</a:t>
                      </a:r>
                    </a:p>
                  </a:txBody>
                  <a:tcPr>
                    <a:solidFill>
                      <a:srgbClr val="FCFCFB"/>
                    </a:solidFill>
                  </a:tcPr>
                </a:tc>
                <a:tc>
                  <a:txBody>
                    <a:bodyPr/>
                    <a:lstStyle/>
                    <a:p>
                      <a:pPr>
                        <a:defRPr sz="1300" b="0">
                          <a:solidFill>
                            <a:srgbClr val="52514E"/>
                          </a:solidFill>
                          <a:latin typeface="DejaVu Sans"/>
                        </a:defRPr>
                      </a:pPr>
                      <a:r>
                        <a:t>24</a:t>
                      </a:r>
                    </a:p>
                  </a:txBody>
                  <a:tcPr>
                    <a:solidFill>
                      <a:srgbClr val="FCFCFB"/>
                    </a:solidFill>
                  </a:tcPr>
                </a:tc>
                <a:tc>
                  <a:txBody>
                    <a:bodyPr/>
                    <a:lstStyle/>
                    <a:p>
                      <a:pPr>
                        <a:defRPr sz="1300" b="0">
                          <a:solidFill>
                            <a:srgbClr val="52514E"/>
                          </a:solidFill>
                          <a:latin typeface="DejaVu Sans"/>
                        </a:defRPr>
                      </a:pPr>
                      <a:r>
                        <a:t>15</a:t>
                      </a:r>
                    </a:p>
                  </a:txBody>
                  <a:tcPr>
                    <a:solidFill>
                      <a:srgbClr val="FCFCFB"/>
                    </a:solidFill>
                  </a:tcPr>
                </a:tc>
              </a:tr>
              <a:tr h="420624">
                <a:tc>
                  <a:txBody>
                    <a:bodyPr/>
                    <a:lstStyle/>
                    <a:p>
                      <a:pPr>
                        <a:defRPr sz="1300" b="0">
                          <a:solidFill>
                            <a:srgbClr val="52514E"/>
                          </a:solidFill>
                          <a:latin typeface="DejaVu Sans"/>
                        </a:defRPr>
                      </a:pPr>
                      <a:r>
                        <a:t>reached the writing agent</a:t>
                      </a:r>
                    </a:p>
                  </a:txBody>
                  <a:tcPr>
                    <a:solidFill>
                      <a:srgbClr val="FCFCFB"/>
                    </a:solidFill>
                  </a:tcPr>
                </a:tc>
                <a:tc>
                  <a:txBody>
                    <a:bodyPr/>
                    <a:lstStyle/>
                    <a:p>
                      <a:pPr>
                        <a:defRPr sz="1300" b="0">
                          <a:solidFill>
                            <a:srgbClr val="52514E"/>
                          </a:solidFill>
                          <a:latin typeface="DejaVu Sans"/>
                        </a:defRPr>
                      </a:pPr>
                      <a:r>
                        <a:t>24</a:t>
                      </a:r>
                    </a:p>
                  </a:txBody>
                  <a:tcPr>
                    <a:solidFill>
                      <a:srgbClr val="FCFCFB"/>
                    </a:solidFill>
                  </a:tcPr>
                </a:tc>
                <a:tc>
                  <a:txBody>
                    <a:bodyPr/>
                    <a:lstStyle/>
                    <a:p>
                      <a:pPr>
                        <a:defRPr sz="1300" b="0">
                          <a:solidFill>
                            <a:srgbClr val="52514E"/>
                          </a:solidFill>
                          <a:latin typeface="DejaVu Sans"/>
                        </a:defRPr>
                      </a:pPr>
                      <a:r>
                        <a:t>10</a:t>
                      </a:r>
                    </a:p>
                  </a:txBody>
                  <a:tcPr>
                    <a:solidFill>
                      <a:srgbClr val="FCFCFB"/>
                    </a:solidFill>
                  </a:tcPr>
                </a:tc>
              </a:tr>
              <a:tr h="420624">
                <a:tc>
                  <a:txBody>
                    <a:bodyPr/>
                    <a:lstStyle/>
                    <a:p>
                      <a:pPr>
                        <a:defRPr sz="1300" b="0">
                          <a:solidFill>
                            <a:srgbClr val="52514E"/>
                          </a:solidFill>
                          <a:latin typeface="DejaVu Sans"/>
                        </a:defRPr>
                      </a:pPr>
                      <a:r>
                        <a:t>lost to the 1,000-char channel</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c>
                  <a:txBody>
                    <a:bodyPr/>
                    <a:lstStyle/>
                    <a:p>
                      <a:pPr>
                        <a:defRPr sz="1300" b="0">
                          <a:solidFill>
                            <a:srgbClr val="52514E"/>
                          </a:solidFill>
                          <a:latin typeface="DejaVu Sans"/>
                        </a:defRPr>
                      </a:pPr>
                      <a:r>
                        <a:t>5</a:t>
                      </a:r>
                    </a:p>
                  </a:txBody>
                  <a:tcPr>
                    <a:solidFill>
                      <a:srgbClr val="FCFCFB"/>
                    </a:solidFill>
                  </a:tcPr>
                </a:tc>
              </a:tr>
              <a:tr h="420624">
                <a:tc>
                  <a:txBody>
                    <a:bodyPr/>
                    <a:lstStyle/>
                    <a:p>
                      <a:pPr>
                        <a:defRPr sz="1300" b="0">
                          <a:solidFill>
                            <a:srgbClr val="52514E"/>
                          </a:solidFill>
                          <a:latin typeface="DejaVu Sans"/>
                        </a:defRPr>
                      </a:pPr>
                      <a:r>
                        <a:t>traceable to an execution</a:t>
                      </a:r>
                    </a:p>
                  </a:txBody>
                  <a:tcPr>
                    <a:solidFill>
                      <a:srgbClr val="FCFCFB"/>
                    </a:solidFill>
                  </a:tcPr>
                </a:tc>
                <a:tc>
                  <a:txBody>
                    <a:bodyPr/>
                    <a:lstStyle/>
                    <a:p>
                      <a:pPr>
                        <a:defRPr sz="1300" b="0">
                          <a:solidFill>
                            <a:srgbClr val="52514E"/>
                          </a:solidFill>
                          <a:latin typeface="DejaVu Sans"/>
                        </a:defRPr>
                      </a:pPr>
                      <a:r>
                        <a:t>24</a:t>
                      </a:r>
                    </a:p>
                  </a:txBody>
                  <a:tcPr>
                    <a:solidFill>
                      <a:srgbClr val="FCFCFB"/>
                    </a:solidFill>
                  </a:tcPr>
                </a:tc>
                <a:tc>
                  <a:txBody>
                    <a:bodyPr/>
                    <a:lstStyle/>
                    <a:p>
                      <a:pPr>
                        <a:defRPr sz="1300" b="0">
                          <a:solidFill>
                            <a:srgbClr val="52514E"/>
                          </a:solidFill>
                          <a:latin typeface="DejaVu Sans"/>
                        </a:defRPr>
                      </a:pPr>
                      <a:r>
                        <a:t>0</a:t>
                      </a:r>
                    </a:p>
                  </a:txBody>
                  <a:tcPr>
                    <a:solidFill>
                      <a:srgbClr val="FCFCFB"/>
                    </a:solidFill>
                  </a:tcPr>
                </a:tc>
              </a:tr>
              <a:tr h="420624">
                <a:tc>
                  <a:txBody>
                    <a:bodyPr/>
                    <a:lstStyle/>
                    <a:p>
                      <a:pPr>
                        <a:defRPr sz="1300" b="0">
                          <a:solidFill>
                            <a:srgbClr val="52514E"/>
                          </a:solidFill>
                          <a:latin typeface="DejaVu Sans"/>
                        </a:defRPr>
                      </a:pPr>
                      <a:r>
                        <a:t>reproduced when re-run</a:t>
                      </a:r>
                    </a:p>
                  </a:txBody>
                  <a:tcPr>
                    <a:solidFill>
                      <a:srgbClr val="FCFCFB"/>
                    </a:solidFill>
                  </a:tcPr>
                </a:tc>
                <a:tc>
                  <a:txBody>
                    <a:bodyPr/>
                    <a:lstStyle/>
                    <a:p>
                      <a:pPr>
                        <a:defRPr sz="1300" b="0">
                          <a:solidFill>
                            <a:srgbClr val="52514E"/>
                          </a:solidFill>
                          <a:latin typeface="DejaVu Sans"/>
                        </a:defRPr>
                      </a:pPr>
                      <a:r>
                        <a:t>24 of 24</a:t>
                      </a:r>
                    </a:p>
                  </a:txBody>
                  <a:tcPr>
                    <a:solidFill>
                      <a:srgbClr val="FCFCFB"/>
                    </a:solidFill>
                  </a:tcPr>
                </a:tc>
                <a:tc>
                  <a:txBody>
                    <a:bodyPr/>
                    <a:lstStyle/>
                    <a:p>
                      <a:pPr>
                        <a:defRPr sz="1300" b="0">
                          <a:solidFill>
                            <a:srgbClr val="52514E"/>
                          </a:solidFill>
                          <a:latin typeface="DejaVu Sans"/>
                        </a:defRPr>
                      </a:pPr>
                      <a:r>
                        <a:t>10 of 10</a:t>
                      </a:r>
                    </a:p>
                  </a:txBody>
                  <a:tcPr>
                    <a:solidFill>
                      <a:srgbClr val="FCFCFB"/>
                    </a:solidFill>
                  </a:tcPr>
                </a:tc>
              </a:tr>
            </a:tbl>
          </a:graphicData>
        </a:graphic>
      </p:graphicFrame>
      <p:sp>
        <p:nvSpPr>
          <p:cNvPr id="5" name="TextBox 4"/>
          <p:cNvSpPr txBox="1"/>
          <p:nvPr/>
        </p:nvSpPr>
        <p:spPr>
          <a:xfrm>
            <a:off x="548640" y="5029200"/>
            <a:ext cx="11064240" cy="1463040"/>
          </a:xfrm>
          <a:prstGeom prst="rect">
            <a:avLst/>
          </a:prstGeom>
          <a:noFill/>
        </p:spPr>
        <p:txBody>
          <a:bodyPr wrap="square">
            <a:spAutoFit/>
          </a:bodyPr>
          <a:lstStyle/>
          <a:p>
            <a:pPr algn="l">
              <a:lnSpc>
                <a:spcPct val="115000"/>
              </a:lnSpc>
            </a:pPr>
            <a:r>
              <a:rPr sz="1400" b="1">
                <a:solidFill>
                  <a:srgbClr val="0B0B0B"/>
                </a:solidFill>
                <a:latin typeface="DejaVu Sans"/>
              </a:rPr>
              <a:t>The ungated arm's numbers are not wrong.</a:t>
            </a:r>
          </a:p>
          <a:p>
            <a:pPr algn="l">
              <a:lnSpc>
                <a:spcPct val="115000"/>
              </a:lnSpc>
            </a:pPr>
            <a:r>
              <a:rPr sz="1200" b="0">
                <a:solidFill>
                  <a:srgbClr val="52514E"/>
                </a:solidFill>
                <a:latin typeface="DejaVu Sans"/>
              </a:rPr>
              <a:t>Every one of the 10 that reached the writer reproduced exactly. It fails on completeness — 5 of 15 results never got through the window, and in one run all three did not, leaving the writer a training log and no results — and on traceability: 0 of 15 carry a trace id or a code hash.</a:t>
            </a:r>
          </a:p>
          <a:p>
            <a:pPr algn="l">
              <a:lnSpc>
                <a:spcPct val="115000"/>
              </a:lnSpc>
            </a:pPr>
            <a:r>
              <a:rPr sz="1200" b="0">
                <a:solidFill>
                  <a:srgbClr val="EB6834"/>
                </a:solidFill>
                <a:latin typeface="DejaVu Sans"/>
              </a:rPr>
              <a:t>A number that reproduces by luck and a number that was measured look identical to a reader. That is the gap.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CHECKS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Every check that ran, turn by turn</a:t>
            </a:r>
          </a:p>
        </p:txBody>
      </p:sp>
      <p:graphicFrame>
        <p:nvGraphicFramePr>
          <p:cNvPr id="4" name="Table 3"/>
          <p:cNvGraphicFramePr>
            <a:graphicFrameLocks noGrp="1"/>
          </p:cNvGraphicFramePr>
          <p:nvPr/>
        </p:nvGraphicFramePr>
        <p:xfrm>
          <a:off x="548640" y="1554480"/>
          <a:ext cx="11064240" cy="4526280"/>
        </p:xfrm>
        <a:graphic>
          <a:graphicData uri="http://schemas.openxmlformats.org/drawingml/2006/table">
            <a:tbl>
              <a:tblPr firstRow="1" bandRow="1">
                <a:tableStyleId>{5C22544A-7EE6-4342-B048-85BDC9FD1C3A}</a:tableStyleId>
              </a:tblPr>
              <a:tblGrid>
                <a:gridCol w="4206240"/>
                <a:gridCol w="1005840"/>
                <a:gridCol w="2926080"/>
                <a:gridCol w="2926080"/>
              </a:tblGrid>
              <a:tr h="301752">
                <a:tc>
                  <a:txBody>
                    <a:bodyPr/>
                    <a:lstStyle/>
                    <a:p>
                      <a:pPr>
                        <a:defRPr sz="1000" b="1">
                          <a:solidFill>
                            <a:srgbClr val="0B0B0B"/>
                          </a:solidFill>
                          <a:latin typeface="DejaVu Sans"/>
                        </a:defRPr>
                      </a:pPr>
                      <a:r>
                        <a:t>check</a:t>
                      </a:r>
                    </a:p>
                  </a:txBody>
                  <a:tcPr>
                    <a:solidFill>
                      <a:srgbClr val="F4F3EE"/>
                    </a:solidFill>
                  </a:tcPr>
                </a:tc>
                <a:tc>
                  <a:txBody>
                    <a:bodyPr/>
                    <a:lstStyle/>
                    <a:p>
                      <a:pPr>
                        <a:defRPr sz="1000" b="1">
                          <a:solidFill>
                            <a:srgbClr val="0B0B0B"/>
                          </a:solidFill>
                          <a:latin typeface="DejaVu Sans"/>
                        </a:defRPr>
                      </a:pPr>
                      <a:r>
                        <a:t>sev</a:t>
                      </a:r>
                    </a:p>
                  </a:txBody>
                  <a:tcPr>
                    <a:solidFill>
                      <a:srgbClr val="F4F3EE"/>
                    </a:solidFill>
                  </a:tcPr>
                </a:tc>
                <a:tc>
                  <a:txBody>
                    <a:bodyPr/>
                    <a:lstStyle/>
                    <a:p>
                      <a:pPr>
                        <a:defRPr sz="1000" b="1">
                          <a:solidFill>
                            <a:srgbClr val="0B0B0B"/>
                          </a:solidFill>
                          <a:latin typeface="DejaVu Sans"/>
                        </a:defRPr>
                      </a:pPr>
                      <a:r>
                        <a:t>turn 1</a:t>
                      </a:r>
                    </a:p>
                  </a:txBody>
                  <a:tcPr>
                    <a:solidFill>
                      <a:srgbClr val="F4F3EE"/>
                    </a:solidFill>
                  </a:tcPr>
                </a:tc>
                <a:tc>
                  <a:txBody>
                    <a:bodyPr/>
                    <a:lstStyle/>
                    <a:p>
                      <a:pPr>
                        <a:defRPr sz="1000" b="1">
                          <a:solidFill>
                            <a:srgbClr val="0B0B0B"/>
                          </a:solidFill>
                          <a:latin typeface="DejaVu Sans"/>
                        </a:defRPr>
                      </a:pPr>
                      <a:r>
                        <a:t>turn 2</a:t>
                      </a:r>
                    </a:p>
                  </a:txBody>
                  <a:tcPr>
                    <a:solidFill>
                      <a:srgbClr val="F4F3EE"/>
                    </a:solidFill>
                  </a:tcPr>
                </a:tc>
              </a:tr>
              <a:tr h="301752">
                <a:tc>
                  <a:txBody>
                    <a:bodyPr/>
                    <a:lstStyle/>
                    <a:p>
                      <a:pPr>
                        <a:defRPr sz="1000" b="0">
                          <a:solidFill>
                            <a:srgbClr val="52514E"/>
                          </a:solidFill>
                          <a:latin typeface="DejaVu Sans"/>
                        </a:defRPr>
                      </a:pPr>
                      <a:r>
                        <a:t>static.syntax_valid</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static.no_unbound_names</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static.no_banned_calls</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results.contract_not_shadowed</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exec.completed_within_budget</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exec.exit_code_zero</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exec.no_uncaught_exception</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env.code_identity</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exec.no_swallowed_traceback</a:t>
                      </a:r>
                    </a:p>
                  </a:txBody>
                  <a:tcPr>
                    <a:solidFill>
                      <a:srgbClr val="FCFCFB"/>
                    </a:solidFill>
                  </a:tcPr>
                </a:tc>
                <a:tc>
                  <a:txBody>
                    <a:bodyPr/>
                    <a:lstStyle/>
                    <a:p>
                      <a:pPr>
                        <a:defRPr sz="1000" b="0">
                          <a:solidFill>
                            <a:srgbClr val="52514E"/>
                          </a:solidFill>
                          <a:latin typeface="DejaVu Sans"/>
                        </a:defRPr>
                      </a:pPr>
                      <a:r>
                        <a:t>WARN</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logs.no_error_signals</a:t>
                      </a:r>
                    </a:p>
                  </a:txBody>
                  <a:tcPr>
                    <a:solidFill>
                      <a:srgbClr val="FCFCFB"/>
                    </a:solidFill>
                  </a:tcPr>
                </a:tc>
                <a:tc>
                  <a:txBody>
                    <a:bodyPr/>
                    <a:lstStyle/>
                    <a:p>
                      <a:pPr>
                        <a:defRPr sz="1000" b="0">
                          <a:solidFill>
                            <a:srgbClr val="52514E"/>
                          </a:solidFill>
                          <a:latin typeface="DejaVu Sans"/>
                        </a:defRPr>
                      </a:pPr>
                      <a:r>
                        <a:t>WARN</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env.clean_namespace</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env.seed_recorded</a:t>
                      </a:r>
                    </a:p>
                  </a:txBody>
                  <a:tcPr>
                    <a:solidFill>
                      <a:srgbClr val="FCFCFB"/>
                    </a:solidFill>
                  </a:tcPr>
                </a:tc>
                <a:tc>
                  <a:txBody>
                    <a:bodyPr/>
                    <a:lstStyle/>
                    <a:p>
                      <a:pPr>
                        <a:defRPr sz="1000" b="0">
                          <a:solidFill>
                            <a:srgbClr val="52514E"/>
                          </a:solidFill>
                          <a:latin typeface="DejaVu Sans"/>
                        </a:defRPr>
                      </a:pPr>
                      <a:r>
                        <a:t>WARN</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results.contract_present</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r h="301752">
                <a:tc>
                  <a:txBody>
                    <a:bodyPr/>
                    <a:lstStyle/>
                    <a:p>
                      <a:pPr>
                        <a:defRPr sz="1000" b="0">
                          <a:solidFill>
                            <a:srgbClr val="52514E"/>
                          </a:solidFill>
                          <a:latin typeface="DejaVu Sans"/>
                        </a:defRPr>
                      </a:pPr>
                      <a:r>
                        <a:t>results.expected_keys_present</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FAIL</a:t>
                      </a:r>
                    </a:p>
                  </a:txBody>
                  <a:tcPr>
                    <a:solidFill>
                      <a:srgbClr val="FCFCFB"/>
                    </a:solidFill>
                  </a:tcPr>
                </a:tc>
                <a:tc>
                  <a:txBody>
                    <a:bodyPr/>
                    <a:lstStyle/>
                    <a:p>
                      <a:pPr>
                        <a:defRPr sz="1000" b="0">
                          <a:solidFill>
                            <a:srgbClr val="52514E"/>
                          </a:solidFill>
                          <a:latin typeface="DejaVu Sans"/>
                        </a:defRPr>
                      </a:pPr>
                      <a:r>
                        <a:t>pass</a:t>
                      </a:r>
                    </a:p>
                  </a:txBody>
                  <a:tcPr>
                    <a:solidFill>
                      <a:srgbClr val="FCFCF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LOGS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Where the evidence is</a:t>
            </a:r>
          </a:p>
        </p:txBody>
      </p:sp>
      <p:graphicFrame>
        <p:nvGraphicFramePr>
          <p:cNvPr id="4" name="Table 3"/>
          <p:cNvGraphicFramePr>
            <a:graphicFrameLocks noGrp="1"/>
          </p:cNvGraphicFramePr>
          <p:nvPr/>
        </p:nvGraphicFramePr>
        <p:xfrm>
          <a:off x="548640" y="1554480"/>
          <a:ext cx="11064240" cy="2852928"/>
        </p:xfrm>
        <a:graphic>
          <a:graphicData uri="http://schemas.openxmlformats.org/drawingml/2006/table">
            <a:tbl>
              <a:tblPr firstRow="1" bandRow="1">
                <a:tableStyleId>{5C22544A-7EE6-4342-B048-85BDC9FD1C3A}</a:tableStyleId>
              </a:tblPr>
              <a:tblGrid>
                <a:gridCol w="2011680"/>
                <a:gridCol w="4754880"/>
                <a:gridCol w="4297680"/>
              </a:tblGrid>
              <a:tr h="475488">
                <a:tc>
                  <a:txBody>
                    <a:bodyPr/>
                    <a:lstStyle/>
                    <a:p>
                      <a:pPr>
                        <a:defRPr sz="1000" b="1">
                          <a:solidFill>
                            <a:srgbClr val="0B0B0B"/>
                          </a:solidFill>
                          <a:latin typeface="DejaVu Sans"/>
                        </a:defRPr>
                      </a:pPr>
                      <a:r>
                        <a:t>arm</a:t>
                      </a:r>
                    </a:p>
                  </a:txBody>
                  <a:tcPr>
                    <a:solidFill>
                      <a:srgbClr val="F4F3EE"/>
                    </a:solidFill>
                  </a:tcPr>
                </a:tc>
                <a:tc>
                  <a:txBody>
                    <a:bodyPr/>
                    <a:lstStyle/>
                    <a:p>
                      <a:pPr>
                        <a:defRPr sz="1000" b="1">
                          <a:solidFill>
                            <a:srgbClr val="0B0B0B"/>
                          </a:solidFill>
                          <a:latin typeface="DejaVu Sans"/>
                        </a:defRPr>
                      </a:pPr>
                      <a:r>
                        <a:t>path</a:t>
                      </a:r>
                    </a:p>
                  </a:txBody>
                  <a:tcPr>
                    <a:solidFill>
                      <a:srgbClr val="F4F3EE"/>
                    </a:solidFill>
                  </a:tcPr>
                </a:tc>
                <a:tc>
                  <a:txBody>
                    <a:bodyPr/>
                    <a:lstStyle/>
                    <a:p>
                      <a:pPr>
                        <a:defRPr sz="1000" b="1">
                          <a:solidFill>
                            <a:srgbClr val="0B0B0B"/>
                          </a:solidFill>
                          <a:latin typeface="DejaVu Sans"/>
                        </a:defRPr>
                      </a:pPr>
                      <a:r>
                        <a:t>files per attempt</a:t>
                      </a:r>
                    </a:p>
                  </a:txBody>
                  <a:tcPr>
                    <a:solidFill>
                      <a:srgbClr val="F4F3EE"/>
                    </a:solidFill>
                  </a:tcPr>
                </a:tc>
              </a:tr>
              <a:tr h="475488">
                <a:tc>
                  <a:txBody>
                    <a:bodyPr/>
                    <a:lstStyle/>
                    <a:p>
                      <a:pPr>
                        <a:defRPr sz="1000" b="0">
                          <a:solidFill>
                            <a:srgbClr val="52514E"/>
                          </a:solidFill>
                          <a:latin typeface="DejaVu Sans"/>
                        </a:defRPr>
                      </a:pPr>
                      <a:r>
                        <a:t>with Gate 1</a:t>
                      </a:r>
                    </a:p>
                  </a:txBody>
                  <a:tcPr>
                    <a:solidFill>
                      <a:srgbClr val="FCFCFB"/>
                    </a:solidFill>
                  </a:tcPr>
                </a:tc>
                <a:tc>
                  <a:txBody>
                    <a:bodyPr/>
                    <a:lstStyle/>
                    <a:p>
                      <a:pPr>
                        <a:defRPr sz="1000" b="0">
                          <a:solidFill>
                            <a:srgbClr val="52514E"/>
                          </a:solidFill>
                          <a:latin typeface="DejaVu Sans"/>
                        </a:defRPr>
                      </a:pPr>
                      <a:r>
                        <a:t>/home/kesh/AgentLaboratory-Gemini/ablation_runs/data_efficiency/gated/gate1/attempt_NN/</a:t>
                      </a:r>
                    </a:p>
                  </a:txBody>
                  <a:tcPr>
                    <a:solidFill>
                      <a:srgbClr val="FCFCFB"/>
                    </a:solidFill>
                  </a:tcPr>
                </a:tc>
                <a:tc>
                  <a:txBody>
                    <a:bodyPr/>
                    <a:lstStyle/>
                    <a:p>
                      <a:pPr>
                        <a:defRPr sz="1000" b="0">
                          <a:solidFill>
                            <a:srgbClr val="52514E"/>
                          </a:solidFill>
                          <a:latin typeface="DejaVu Sans"/>
                        </a:defRPr>
                      </a:pPr>
                      <a:r>
                        <a:t>experiment.py, stdout.txt, stderr.txt, results.json, registry.json, gate1_report.json</a:t>
                      </a:r>
                    </a:p>
                  </a:txBody>
                  <a:tcPr>
                    <a:solidFill>
                      <a:srgbClr val="FCFCFB"/>
                    </a:solidFill>
                  </a:tcPr>
                </a:tc>
              </a:tr>
              <a:tr h="475488">
                <a:tc>
                  <a:txBody>
                    <a:bodyPr/>
                    <a:lstStyle/>
                    <a:p>
                      <a:pPr>
                        <a:defRPr sz="1000" b="0">
                          <a:solidFill>
                            <a:srgbClr val="52514E"/>
                          </a:solidFill>
                          <a:latin typeface="DejaVu Sans"/>
                        </a:defRPr>
                      </a:pPr>
                      <a:r>
                        <a:t>without Gate 1</a:t>
                      </a:r>
                    </a:p>
                  </a:txBody>
                  <a:tcPr>
                    <a:solidFill>
                      <a:srgbClr val="FCFCFB"/>
                    </a:solidFill>
                  </a:tcPr>
                </a:tc>
                <a:tc>
                  <a:txBody>
                    <a:bodyPr/>
                    <a:lstStyle/>
                    <a:p>
                      <a:pPr>
                        <a:defRPr sz="1000" b="0">
                          <a:solidFill>
                            <a:srgbClr val="52514E"/>
                          </a:solidFill>
                          <a:latin typeface="DejaVu Sans"/>
                        </a:defRPr>
                      </a:pPr>
                      <a:r>
                        <a:t>/home/kesh/AgentLaboratory-Gemini/ablation_runs/data_efficiency/ungated/attempt_NN/</a:t>
                      </a:r>
                    </a:p>
                  </a:txBody>
                  <a:tcPr>
                    <a:solidFill>
                      <a:srgbClr val="FCFCFB"/>
                    </a:solidFill>
                  </a:tcPr>
                </a:tc>
                <a:tc>
                  <a:txBody>
                    <a:bodyPr/>
                    <a:lstStyle/>
                    <a:p>
                      <a:pPr>
                        <a:defRPr sz="1000" b="0">
                          <a:solidFill>
                            <a:srgbClr val="52514E"/>
                          </a:solidFill>
                          <a:latin typeface="DejaVu Sans"/>
                        </a:defRPr>
                      </a:pPr>
                      <a:r>
                        <a:t>experiment.py, stdout.txt, stderr.txt</a:t>
                      </a:r>
                    </a:p>
                  </a:txBody>
                  <a:tcPr>
                    <a:solidFill>
                      <a:srgbClr val="FCFCFB"/>
                    </a:solidFill>
                  </a:tcPr>
                </a:tc>
              </a:tr>
              <a:tr h="475488">
                <a:tc>
                  <a:txBody>
                    <a:bodyPr/>
                    <a:lstStyle/>
                    <a:p>
                      <a:pPr>
                        <a:defRPr sz="1000" b="0">
                          <a:solidFill>
                            <a:srgbClr val="52514E"/>
                          </a:solidFill>
                          <a:latin typeface="DejaVu Sans"/>
                        </a:defRPr>
                      </a:pPr>
                      <a:r>
                        <a:t>shadow verdicts</a:t>
                      </a:r>
                    </a:p>
                  </a:txBody>
                  <a:tcPr>
                    <a:solidFill>
                      <a:srgbClr val="FCFCFB"/>
                    </a:solidFill>
                  </a:tcPr>
                </a:tc>
                <a:tc>
                  <a:txBody>
                    <a:bodyPr/>
                    <a:lstStyle/>
                    <a:p>
                      <a:pPr>
                        <a:defRPr sz="1000" b="0">
                          <a:solidFill>
                            <a:srgbClr val="52514E"/>
                          </a:solidFill>
                          <a:latin typeface="DejaVu Sans"/>
                        </a:defRPr>
                      </a:pPr>
                      <a:r>
                        <a:t>/home/kesh/AgentLaboratory-Gemini/ablation_runs/data_efficiency/ungated/shadow_gate/gate1/attempt_NN/</a:t>
                      </a:r>
                    </a:p>
                  </a:txBody>
                  <a:tcPr>
                    <a:solidFill>
                      <a:srgbClr val="FCFCFB"/>
                    </a:solidFill>
                  </a:tcPr>
                </a:tc>
                <a:tc>
                  <a:txBody>
                    <a:bodyPr/>
                    <a:lstStyle/>
                    <a:p>
                      <a:pPr>
                        <a:defRPr sz="1000" b="0">
                          <a:solidFill>
                            <a:srgbClr val="52514E"/>
                          </a:solidFill>
                          <a:latin typeface="DejaVu Sans"/>
                        </a:defRPr>
                      </a:pPr>
                      <a:r>
                        <a:t>what Gate 1 would have said about the same executions</a:t>
                      </a:r>
                    </a:p>
                  </a:txBody>
                  <a:tcPr>
                    <a:solidFill>
                      <a:srgbClr val="FCFCFB"/>
                    </a:solidFill>
                  </a:tcPr>
                </a:tc>
              </a:tr>
              <a:tr h="475488">
                <a:tc>
                  <a:txBody>
                    <a:bodyPr/>
                    <a:lstStyle/>
                    <a:p>
                      <a:pPr>
                        <a:defRPr sz="1000" b="0">
                          <a:solidFill>
                            <a:srgbClr val="52514E"/>
                          </a:solidFill>
                          <a:latin typeface="DejaVu Sans"/>
                        </a:defRPr>
                      </a:pPr>
                      <a:r>
                        <a:t>re-execution</a:t>
                      </a:r>
                    </a:p>
                  </a:txBody>
                  <a:tcPr>
                    <a:solidFill>
                      <a:srgbClr val="FCFCFB"/>
                    </a:solidFill>
                  </a:tcPr>
                </a:tc>
                <a:tc>
                  <a:txBody>
                    <a:bodyPr/>
                    <a:lstStyle/>
                    <a:p>
                      <a:pPr>
                        <a:defRPr sz="1000" b="0">
                          <a:solidFill>
                            <a:srgbClr val="52514E"/>
                          </a:solidFill>
                          <a:latin typeface="DejaVu Sans"/>
                        </a:defRPr>
                      </a:pPr>
                      <a:r>
                        <a:t>/home/kesh/AgentLaboratory-Gemini/ablation_runs/data_efficiency/&lt;arm&gt;/verify/</a:t>
                      </a:r>
                    </a:p>
                  </a:txBody>
                  <a:tcPr>
                    <a:solidFill>
                      <a:srgbClr val="FCFCFB"/>
                    </a:solidFill>
                  </a:tcPr>
                </a:tc>
                <a:tc>
                  <a:txBody>
                    <a:bodyPr/>
                    <a:lstStyle/>
                    <a:p>
                      <a:pPr>
                        <a:defRPr sz="1000" b="0">
                          <a:solidFill>
                            <a:srgbClr val="52514E"/>
                          </a:solidFill>
                          <a:latin typeface="DejaVu Sans"/>
                        </a:defRPr>
                      </a:pPr>
                      <a:r>
                        <a:t>the accepted code, run again</a:t>
                      </a:r>
                    </a:p>
                  </a:txBody>
                  <a:tcPr>
                    <a:solidFill>
                      <a:srgbClr val="FCFCFB"/>
                    </a:solidFill>
                  </a:tcPr>
                </a:tc>
              </a:tr>
              <a:tr h="475488">
                <a:tc>
                  <a:txBody>
                    <a:bodyPr/>
                    <a:lstStyle/>
                    <a:p>
                      <a:pPr>
                        <a:defRPr sz="1000" b="0">
                          <a:solidFill>
                            <a:srgbClr val="52514E"/>
                          </a:solidFill>
                          <a:latin typeface="DejaVu Sans"/>
                        </a:defRPr>
                      </a:pPr>
                      <a:r>
                        <a:t>summary</a:t>
                      </a:r>
                    </a:p>
                  </a:txBody>
                  <a:tcPr>
                    <a:solidFill>
                      <a:srgbClr val="FCFCFB"/>
                    </a:solidFill>
                  </a:tcPr>
                </a:tc>
                <a:tc>
                  <a:txBody>
                    <a:bodyPr/>
                    <a:lstStyle/>
                    <a:p>
                      <a:pPr>
                        <a:defRPr sz="1000" b="0">
                          <a:solidFill>
                            <a:srgbClr val="52514E"/>
                          </a:solidFill>
                          <a:latin typeface="DejaVu Sans"/>
                        </a:defRPr>
                      </a:pPr>
                      <a:r>
                        <a:t>/home/kesh/AgentLaboratory-Gemini/ablation_runs/data_efficiency/ablation.txt · ablation.json</a:t>
                      </a:r>
                    </a:p>
                  </a:txBody>
                  <a:tcPr>
                    <a:solidFill>
                      <a:srgbClr val="FCFCFB"/>
                    </a:solidFill>
                  </a:tcPr>
                </a:tc>
                <a:tc>
                  <a:txBody>
                    <a:bodyPr/>
                    <a:lstStyle/>
                    <a:p>
                      <a:pPr>
                        <a:defRPr sz="1000" b="0">
                          <a:solidFill>
                            <a:srgbClr val="52514E"/>
                          </a:solidFill>
                          <a:latin typeface="DejaVu Sans"/>
                        </a:defRPr>
                      </a:pPr>
                      <a:r>
                        <a:t>the tables in the report</a:t>
                      </a:r>
                    </a:p>
                  </a:txBody>
                  <a:tcPr>
                    <a:solidFill>
                      <a:srgbClr val="FCFCFB"/>
                    </a:solidFill>
                  </a:tcPr>
                </a:tc>
              </a:tr>
            </a:tbl>
          </a:graphicData>
        </a:graphic>
      </p:graphicFrame>
      <p:sp>
        <p:nvSpPr>
          <p:cNvPr id="5" name="Rounded Rectangle 4"/>
          <p:cNvSpPr/>
          <p:nvPr/>
        </p:nvSpPr>
        <p:spPr>
          <a:xfrm>
            <a:off x="548640" y="4480560"/>
            <a:ext cx="11064240" cy="182880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617720"/>
            <a:ext cx="10607040" cy="1645920"/>
          </a:xfrm>
          <a:prstGeom prst="rect">
            <a:avLst/>
          </a:prstGeom>
          <a:noFill/>
        </p:spPr>
        <p:txBody>
          <a:bodyPr wrap="square">
            <a:spAutoFit/>
          </a:bodyPr>
          <a:lstStyle/>
          <a:p>
            <a:pPr algn="l">
              <a:lnSpc>
                <a:spcPct val="115000"/>
              </a:lnSpc>
            </a:pPr>
            <a:r>
              <a:rPr sz="1100" b="1">
                <a:solidFill>
                  <a:srgbClr val="0B0B0B"/>
                </a:solidFill>
                <a:latin typeface="DejaVu Sans"/>
              </a:rPr>
              <a:t>stdout.txt from the accepted run, captured in full and never truncated</a:t>
            </a:r>
          </a:p>
          <a:p>
            <a:pPr algn="l">
              <a:lnSpc>
                <a:spcPct val="115000"/>
              </a:lnSpc>
            </a:pPr>
            <a:r>
              <a:rPr sz="1000" b="0">
                <a:solidFill>
                  <a:srgbClr val="52514E"/>
                </a:solidFill>
                <a:latin typeface="DejaVu Sans"/>
              </a:rPr>
              <a:t>Training on 100 samples (25% of training set)</a:t>
            </a:r>
          </a:p>
          <a:p>
            <a:pPr algn="l">
              <a:lnSpc>
                <a:spcPct val="115000"/>
              </a:lnSpc>
            </a:pPr>
            <a:r>
              <a:rPr sz="1000" b="0">
                <a:solidFill>
                  <a:srgbClr val="52514E"/>
                </a:solidFill>
                <a:latin typeface="DejaVu Sans"/>
              </a:rPr>
              <a:t>Step 1, loss: 1.098612</a:t>
            </a:r>
          </a:p>
          <a:p>
            <a:pPr algn="l">
              <a:lnSpc>
                <a:spcPct val="115000"/>
              </a:lnSpc>
            </a:pPr>
            <a:r>
              <a:rPr sz="1000" b="0">
                <a:solidFill>
                  <a:srgbClr val="52514E"/>
                </a:solidFill>
                <a:latin typeface="DejaVu Sans"/>
              </a:rPr>
              <a:t>Step 21, loss: 0.335750</a:t>
            </a:r>
          </a:p>
          <a:p>
            <a:pPr algn="l">
              <a:lnSpc>
                <a:spcPct val="115000"/>
              </a:lnSpc>
            </a:pPr>
            <a:r>
              <a:rPr sz="1000" b="0">
                <a:solidFill>
                  <a:srgbClr val="52514E"/>
                </a:solidFill>
                <a:latin typeface="DejaVu Sans"/>
              </a:rPr>
              <a:t>Step 41, loss: 0.251304</a:t>
            </a:r>
          </a:p>
          <a:p>
            <a:pPr algn="l">
              <a:lnSpc>
                <a:spcPct val="115000"/>
              </a:lnSpc>
            </a:pPr>
            <a:r>
              <a:rPr sz="1000" b="0">
                <a:solidFill>
                  <a:srgbClr val="52514E"/>
                </a:solidFill>
                <a:latin typeface="DejaVu Sans"/>
              </a:rPr>
              <a:t>Step 61, loss: 0.198800</a:t>
            </a:r>
          </a:p>
          <a:p>
            <a:pPr algn="l">
              <a:lnSpc>
                <a:spcPct val="115000"/>
              </a:lnSpc>
            </a:pPr>
            <a:r>
              <a:rPr sz="1000" b="0">
                <a:solidFill>
                  <a:srgbClr val="52514E"/>
                </a:solidFill>
                <a:latin typeface="DejaVu Sans"/>
              </a:rPr>
              <a:t>Step 81, loss: 0.163701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TAXONOMY</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This run, scored against MLR-Bench's four classes</a:t>
            </a:r>
          </a:p>
        </p:txBody>
      </p:sp>
      <p:graphicFrame>
        <p:nvGraphicFramePr>
          <p:cNvPr id="4" name="Table 3"/>
          <p:cNvGraphicFramePr>
            <a:graphicFrameLocks noGrp="1"/>
          </p:cNvGraphicFramePr>
          <p:nvPr/>
        </p:nvGraphicFramePr>
        <p:xfrm>
          <a:off x="548640" y="1645920"/>
          <a:ext cx="11064240" cy="2834640"/>
        </p:xfrm>
        <a:graphic>
          <a:graphicData uri="http://schemas.openxmlformats.org/drawingml/2006/table">
            <a:tbl>
              <a:tblPr firstRow="1" bandRow="1">
                <a:tableStyleId>{5C22544A-7EE6-4342-B048-85BDC9FD1C3A}</a:tableStyleId>
              </a:tblPr>
              <a:tblGrid>
                <a:gridCol w="3108960"/>
                <a:gridCol w="3017520"/>
                <a:gridCol w="3017520"/>
                <a:gridCol w="1920240"/>
              </a:tblGrid>
              <a:tr h="566928">
                <a:tc>
                  <a:txBody>
                    <a:bodyPr/>
                    <a:lstStyle/>
                    <a:p>
                      <a:pPr>
                        <a:defRPr sz="1200" b="1">
                          <a:solidFill>
                            <a:srgbClr val="0B0B0B"/>
                          </a:solidFill>
                          <a:latin typeface="DejaVu Sans"/>
                        </a:defRPr>
                      </a:pPr>
                      <a:r>
                        <a:t>MLR-Bench class</a:t>
                      </a:r>
                    </a:p>
                  </a:txBody>
                  <a:tcPr>
                    <a:solidFill>
                      <a:srgbClr val="F4F3EE"/>
                    </a:solidFill>
                  </a:tcPr>
                </a:tc>
                <a:tc>
                  <a:txBody>
                    <a:bodyPr/>
                    <a:lstStyle/>
                    <a:p>
                      <a:pPr>
                        <a:defRPr sz="1200" b="1">
                          <a:solidFill>
                            <a:srgbClr val="0B0B0B"/>
                          </a:solidFill>
                          <a:latin typeface="DejaVu Sans"/>
                        </a:defRPr>
                      </a:pPr>
                      <a:r>
                        <a:t>with Gate 1</a:t>
                      </a:r>
                    </a:p>
                  </a:txBody>
                  <a:tcPr>
                    <a:solidFill>
                      <a:srgbClr val="F4F3EE"/>
                    </a:solidFill>
                  </a:tcPr>
                </a:tc>
                <a:tc>
                  <a:txBody>
                    <a:bodyPr/>
                    <a:lstStyle/>
                    <a:p>
                      <a:pPr>
                        <a:defRPr sz="1200" b="1">
                          <a:solidFill>
                            <a:srgbClr val="0B0B0B"/>
                          </a:solidFill>
                          <a:latin typeface="DejaVu Sans"/>
                        </a:defRPr>
                      </a:pPr>
                      <a:r>
                        <a:t>without Gate 1</a:t>
                      </a:r>
                    </a:p>
                  </a:txBody>
                  <a:tcPr>
                    <a:solidFill>
                      <a:srgbClr val="F4F3EE"/>
                    </a:solidFill>
                  </a:tcPr>
                </a:tc>
                <a:tc>
                  <a:txBody>
                    <a:bodyPr/>
                    <a:lstStyle/>
                    <a:p>
                      <a:pPr>
                        <a:defRPr sz="1200" b="1">
                          <a:solidFill>
                            <a:srgbClr val="0B0B0B"/>
                          </a:solidFill>
                          <a:latin typeface="DejaVu Sans"/>
                        </a:defRPr>
                      </a:pPr>
                      <a:r>
                        <a:t>whose job</a:t>
                      </a:r>
                    </a:p>
                  </a:txBody>
                  <a:tcPr>
                    <a:solidFill>
                      <a:srgbClr val="F4F3EE"/>
                    </a:solidFill>
                  </a:tcPr>
                </a:tc>
              </a:tr>
              <a:tr h="566928">
                <a:tc>
                  <a:txBody>
                    <a:bodyPr/>
                    <a:lstStyle/>
                    <a:p>
                      <a:pPr>
                        <a:defRPr sz="1200" b="0">
                          <a:solidFill>
                            <a:srgbClr val="52514E"/>
                          </a:solidFill>
                          <a:latin typeface="DejaVu Sans"/>
                        </a:defRPr>
                      </a:pPr>
                      <a:r>
                        <a:t>Faked experimental results</a:t>
                      </a:r>
                    </a:p>
                  </a:txBody>
                  <a:tcPr>
                    <a:solidFill>
                      <a:srgbClr val="FCFCFB"/>
                    </a:solidFill>
                  </a:tcPr>
                </a:tc>
                <a:tc>
                  <a:txBody>
                    <a:bodyPr/>
                    <a:lstStyle/>
                    <a:p>
                      <a:pPr>
                        <a:defRPr sz="1200" b="0">
                          <a:solidFill>
                            <a:srgbClr val="52514E"/>
                          </a:solidFill>
                          <a:latin typeface="DejaVu Sans"/>
                        </a:defRPr>
                      </a:pPr>
                      <a:r>
                        <a:t>0 of 6 unbacked, 6 reproduced</a:t>
                      </a:r>
                    </a:p>
                  </a:txBody>
                  <a:tcPr>
                    <a:solidFill>
                      <a:srgbClr val="FCFCFB"/>
                    </a:solidFill>
                  </a:tcPr>
                </a:tc>
                <a:tc>
                  <a:txBody>
                    <a:bodyPr/>
                    <a:lstStyle/>
                    <a:p>
                      <a:pPr>
                        <a:defRPr sz="1200" b="0">
                          <a:solidFill>
                            <a:srgbClr val="52514E"/>
                          </a:solidFill>
                          <a:latin typeface="DejaVu Sans"/>
                        </a:defRPr>
                      </a:pPr>
                      <a:r>
                        <a:t>every number unbacked — nothing recorded</a:t>
                      </a:r>
                    </a:p>
                  </a:txBody>
                  <a:tcPr>
                    <a:solidFill>
                      <a:srgbClr val="FCFCFB"/>
                    </a:solidFill>
                  </a:tcPr>
                </a:tc>
                <a:tc>
                  <a:txBody>
                    <a:bodyPr/>
                    <a:lstStyle/>
                    <a:p>
                      <a:pPr>
                        <a:defRPr sz="1200" b="0">
                          <a:solidFill>
                            <a:srgbClr val="52514E"/>
                          </a:solidFill>
                          <a:latin typeface="DejaVu Sans"/>
                        </a:defRPr>
                      </a:pPr>
                      <a:r>
                        <a:t>Gate 1 — measured here</a:t>
                      </a:r>
                    </a:p>
                  </a:txBody>
                  <a:tcPr>
                    <a:solidFill>
                      <a:srgbClr val="FCFCFB"/>
                    </a:solidFill>
                  </a:tcPr>
                </a:tc>
              </a:tr>
              <a:tr h="566928">
                <a:tc>
                  <a:txBody>
                    <a:bodyPr/>
                    <a:lstStyle/>
                    <a:p>
                      <a:pPr>
                        <a:defRPr sz="1200" b="0">
                          <a:solidFill>
                            <a:srgbClr val="52514E"/>
                          </a:solidFill>
                          <a:latin typeface="DejaVu Sans"/>
                        </a:defRPr>
                      </a:pPr>
                      <a:r>
                        <a:t>Hallucinated methodology</a:t>
                      </a:r>
                    </a:p>
                  </a:txBody>
                  <a:tcPr>
                    <a:solidFill>
                      <a:srgbClr val="FCFCFB"/>
                    </a:solidFill>
                  </a:tcPr>
                </a:tc>
                <a:tc>
                  <a:txBody>
                    <a:bodyPr/>
                    <a:lstStyle/>
                    <a:p>
                      <a:pPr>
                        <a:defRPr sz="1200" b="0">
                          <a:solidFill>
                            <a:srgbClr val="52514E"/>
                          </a:solidFill>
                          <a:latin typeface="DejaVu Sans"/>
                        </a:defRPr>
                      </a:pPr>
                      <a:r>
                        <a:t>not measured</a:t>
                      </a:r>
                    </a:p>
                  </a:txBody>
                  <a:tcPr>
                    <a:solidFill>
                      <a:srgbClr val="FCFCFB"/>
                    </a:solidFill>
                  </a:tcPr>
                </a:tc>
                <a:tc>
                  <a:txBody>
                    <a:bodyPr/>
                    <a:lstStyle/>
                    <a:p>
                      <a:pPr>
                        <a:defRPr sz="1200" b="0">
                          <a:solidFill>
                            <a:srgbClr val="52514E"/>
                          </a:solidFill>
                          <a:latin typeface="DejaVu Sans"/>
                        </a:defRPr>
                      </a:pPr>
                      <a:r>
                        <a:t>not measured</a:t>
                      </a:r>
                    </a:p>
                  </a:txBody>
                  <a:tcPr>
                    <a:solidFill>
                      <a:srgbClr val="FCFCFB"/>
                    </a:solidFill>
                  </a:tcPr>
                </a:tc>
                <a:tc>
                  <a:txBody>
                    <a:bodyPr/>
                    <a:lstStyle/>
                    <a:p>
                      <a:pPr>
                        <a:defRPr sz="1200" b="0">
                          <a:solidFill>
                            <a:srgbClr val="52514E"/>
                          </a:solidFill>
                          <a:latin typeface="DejaVu Sans"/>
                        </a:defRPr>
                      </a:pPr>
                      <a:r>
                        <a:t>Gate 2</a:t>
                      </a:r>
                    </a:p>
                  </a:txBody>
                  <a:tcPr>
                    <a:solidFill>
                      <a:srgbClr val="FCFCFB"/>
                    </a:solidFill>
                  </a:tcPr>
                </a:tc>
              </a:tr>
              <a:tr h="566928">
                <a:tc>
                  <a:txBody>
                    <a:bodyPr/>
                    <a:lstStyle/>
                    <a:p>
                      <a:pPr>
                        <a:defRPr sz="1200" b="0">
                          <a:solidFill>
                            <a:srgbClr val="52514E"/>
                          </a:solidFill>
                          <a:latin typeface="DejaVu Sans"/>
                        </a:defRPr>
                      </a:pPr>
                      <a:r>
                        <a:t>Incorrect citations</a:t>
                      </a:r>
                    </a:p>
                  </a:txBody>
                  <a:tcPr>
                    <a:solidFill>
                      <a:srgbClr val="FCFCFB"/>
                    </a:solidFill>
                  </a:tcPr>
                </a:tc>
                <a:tc>
                  <a:txBody>
                    <a:bodyPr/>
                    <a:lstStyle/>
                    <a:p>
                      <a:pPr>
                        <a:defRPr sz="1200" b="0">
                          <a:solidFill>
                            <a:srgbClr val="52514E"/>
                          </a:solidFill>
                          <a:latin typeface="DejaVu Sans"/>
                        </a:defRPr>
                      </a:pPr>
                      <a:r>
                        <a:t>not measured</a:t>
                      </a:r>
                    </a:p>
                  </a:txBody>
                  <a:tcPr>
                    <a:solidFill>
                      <a:srgbClr val="FCFCFB"/>
                    </a:solidFill>
                  </a:tcPr>
                </a:tc>
                <a:tc>
                  <a:txBody>
                    <a:bodyPr/>
                    <a:lstStyle/>
                    <a:p>
                      <a:pPr>
                        <a:defRPr sz="1200" b="0">
                          <a:solidFill>
                            <a:srgbClr val="52514E"/>
                          </a:solidFill>
                          <a:latin typeface="DejaVu Sans"/>
                        </a:defRPr>
                      </a:pPr>
                      <a:r>
                        <a:t>not measured</a:t>
                      </a:r>
                    </a:p>
                  </a:txBody>
                  <a:tcPr>
                    <a:solidFill>
                      <a:srgbClr val="FCFCFB"/>
                    </a:solidFill>
                  </a:tcPr>
                </a:tc>
                <a:tc>
                  <a:txBody>
                    <a:bodyPr/>
                    <a:lstStyle/>
                    <a:p>
                      <a:pPr>
                        <a:defRPr sz="1200" b="0">
                          <a:solidFill>
                            <a:srgbClr val="52514E"/>
                          </a:solidFill>
                          <a:latin typeface="DejaVu Sans"/>
                        </a:defRPr>
                      </a:pPr>
                      <a:r>
                        <a:t>Gate 3</a:t>
                      </a:r>
                    </a:p>
                  </a:txBody>
                  <a:tcPr>
                    <a:solidFill>
                      <a:srgbClr val="FCFCFB"/>
                    </a:solidFill>
                  </a:tcPr>
                </a:tc>
              </a:tr>
              <a:tr h="566928">
                <a:tc>
                  <a:txBody>
                    <a:bodyPr/>
                    <a:lstStyle/>
                    <a:p>
                      <a:pPr>
                        <a:defRPr sz="1200" b="0">
                          <a:solidFill>
                            <a:srgbClr val="52514E"/>
                          </a:solidFill>
                          <a:latin typeface="DejaVu Sans"/>
                        </a:defRPr>
                      </a:pPr>
                      <a:r>
                        <a:t>Mathematical errors</a:t>
                      </a:r>
                    </a:p>
                  </a:txBody>
                  <a:tcPr>
                    <a:solidFill>
                      <a:srgbClr val="FCFCFB"/>
                    </a:solidFill>
                  </a:tcPr>
                </a:tc>
                <a:tc>
                  <a:txBody>
                    <a:bodyPr/>
                    <a:lstStyle/>
                    <a:p>
                      <a:pPr>
                        <a:defRPr sz="1200" b="0">
                          <a:solidFill>
                            <a:srgbClr val="52514E"/>
                          </a:solidFill>
                          <a:latin typeface="DejaVu Sans"/>
                        </a:defRPr>
                      </a:pPr>
                      <a:r>
                        <a:t>not measured</a:t>
                      </a:r>
                    </a:p>
                  </a:txBody>
                  <a:tcPr>
                    <a:solidFill>
                      <a:srgbClr val="FCFCFB"/>
                    </a:solidFill>
                  </a:tcPr>
                </a:tc>
                <a:tc>
                  <a:txBody>
                    <a:bodyPr/>
                    <a:lstStyle/>
                    <a:p>
                      <a:pPr>
                        <a:defRPr sz="1200" b="0">
                          <a:solidFill>
                            <a:srgbClr val="52514E"/>
                          </a:solidFill>
                          <a:latin typeface="DejaVu Sans"/>
                        </a:defRPr>
                      </a:pPr>
                      <a:r>
                        <a:t>not measured</a:t>
                      </a:r>
                    </a:p>
                  </a:txBody>
                  <a:tcPr>
                    <a:solidFill>
                      <a:srgbClr val="FCFCFB"/>
                    </a:solidFill>
                  </a:tcPr>
                </a:tc>
                <a:tc>
                  <a:txBody>
                    <a:bodyPr/>
                    <a:lstStyle/>
                    <a:p>
                      <a:pPr>
                        <a:defRPr sz="1200" b="0">
                          <a:solidFill>
                            <a:srgbClr val="52514E"/>
                          </a:solidFill>
                          <a:latin typeface="DejaVu Sans"/>
                        </a:defRPr>
                      </a:pPr>
                      <a:r>
                        <a:t>outside all three</a:t>
                      </a:r>
                    </a:p>
                  </a:txBody>
                  <a:tcPr>
                    <a:solidFill>
                      <a:srgbClr val="FCFCFB"/>
                    </a:solidFill>
                  </a:tcPr>
                </a:tc>
              </a:tr>
            </a:tbl>
          </a:graphicData>
        </a:graphic>
      </p:graphicFrame>
      <p:sp>
        <p:nvSpPr>
          <p:cNvPr id="5" name="TextBox 4"/>
          <p:cNvSpPr txBox="1"/>
          <p:nvPr/>
        </p:nvSpPr>
        <p:spPr>
          <a:xfrm>
            <a:off x="548640" y="5120640"/>
            <a:ext cx="11064240" cy="1097280"/>
          </a:xfrm>
          <a:prstGeom prst="rect">
            <a:avLst/>
          </a:prstGeom>
          <a:noFill/>
        </p:spPr>
        <p:txBody>
          <a:bodyPr wrap="square">
            <a:spAutoFit/>
          </a:bodyPr>
          <a:lstStyle/>
          <a:p>
            <a:pPr algn="l">
              <a:lnSpc>
                <a:spcPct val="115000"/>
              </a:lnSpc>
            </a:pPr>
            <a:r>
              <a:rPr sz="1300" b="1">
                <a:solidFill>
                  <a:srgbClr val="EB6834"/>
                </a:solidFill>
                <a:latin typeface="DejaVu Sans"/>
              </a:rPr>
              <a:t>This is our run scored with their categories — not a run of MLR-Bench, which needs their harness and task set.</a:t>
            </a:r>
          </a:p>
          <a:p>
            <a:pPr algn="l">
              <a:lnSpc>
                <a:spcPct val="115000"/>
              </a:lnSpc>
            </a:pPr>
            <a:r>
              <a:rPr sz="1100" b="0">
                <a:solidFill>
                  <a:srgbClr val="52514E"/>
                </a:solidFill>
                <a:latin typeface="DejaVu Sans"/>
              </a:rPr>
              <a:t>For scale, MLR-Bench reports faked results and hallucinated methodology in more than half of 10 tasks, and almost all AI Scientist V2 papers contain both. BadScientist reports fabricated papers accepted at up to 82.0% with detection barely above chance.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COST</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Gate 1's marginal cost on the paid API is zero</a:t>
            </a:r>
          </a:p>
        </p:txBody>
      </p:sp>
      <p:graphicFrame>
        <p:nvGraphicFramePr>
          <p:cNvPr id="4" name="Table 3"/>
          <p:cNvGraphicFramePr>
            <a:graphicFrameLocks noGrp="1"/>
          </p:cNvGraphicFramePr>
          <p:nvPr/>
        </p:nvGraphicFramePr>
        <p:xfrm>
          <a:off x="548640" y="1645920"/>
          <a:ext cx="11064240" cy="1371600"/>
        </p:xfrm>
        <a:graphic>
          <a:graphicData uri="http://schemas.openxmlformats.org/drawingml/2006/table">
            <a:tbl>
              <a:tblPr firstRow="1" bandRow="1">
                <a:tableStyleId>{5C22544A-7EE6-4342-B048-85BDC9FD1C3A}</a:tableStyleId>
              </a:tblPr>
              <a:tblGrid>
                <a:gridCol w="1828800"/>
                <a:gridCol w="1188720"/>
                <a:gridCol w="2011680"/>
                <a:gridCol w="2194560"/>
                <a:gridCol w="2194560"/>
                <a:gridCol w="1645920"/>
              </a:tblGrid>
              <a:tr h="457200">
                <a:tc>
                  <a:txBody>
                    <a:bodyPr/>
                    <a:lstStyle/>
                    <a:p>
                      <a:pPr>
                        <a:defRPr sz="1200" b="1">
                          <a:solidFill>
                            <a:srgbClr val="0B0B0B"/>
                          </a:solidFill>
                          <a:latin typeface="DejaVu Sans"/>
                        </a:defRPr>
                      </a:pPr>
                      <a:r>
                        <a:t>role</a:t>
                      </a:r>
                    </a:p>
                  </a:txBody>
                  <a:tcPr>
                    <a:solidFill>
                      <a:srgbClr val="F4F3EE"/>
                    </a:solidFill>
                  </a:tcPr>
                </a:tc>
                <a:tc>
                  <a:txBody>
                    <a:bodyPr/>
                    <a:lstStyle/>
                    <a:p>
                      <a:pPr>
                        <a:defRPr sz="1200" b="1">
                          <a:solidFill>
                            <a:srgbClr val="0B0B0B"/>
                          </a:solidFill>
                          <a:latin typeface="DejaVu Sans"/>
                        </a:defRPr>
                      </a:pPr>
                      <a:r>
                        <a:t>calls</a:t>
                      </a:r>
                    </a:p>
                  </a:txBody>
                  <a:tcPr>
                    <a:solidFill>
                      <a:srgbClr val="F4F3EE"/>
                    </a:solidFill>
                  </a:tcPr>
                </a:tc>
                <a:tc>
                  <a:txBody>
                    <a:bodyPr/>
                    <a:lstStyle/>
                    <a:p>
                      <a:pPr>
                        <a:defRPr sz="1200" b="1">
                          <a:solidFill>
                            <a:srgbClr val="0B0B0B"/>
                          </a:solidFill>
                          <a:latin typeface="DejaVu Sans"/>
                        </a:defRPr>
                      </a:pPr>
                      <a:r>
                        <a:t>prompt tok</a:t>
                      </a:r>
                    </a:p>
                  </a:txBody>
                  <a:tcPr>
                    <a:solidFill>
                      <a:srgbClr val="F4F3EE"/>
                    </a:solidFill>
                  </a:tcPr>
                </a:tc>
                <a:tc>
                  <a:txBody>
                    <a:bodyPr/>
                    <a:lstStyle/>
                    <a:p>
                      <a:pPr>
                        <a:defRPr sz="1200" b="1">
                          <a:solidFill>
                            <a:srgbClr val="0B0B0B"/>
                          </a:solidFill>
                          <a:latin typeface="DejaVu Sans"/>
                        </a:defRPr>
                      </a:pPr>
                      <a:r>
                        <a:t>completion tok</a:t>
                      </a:r>
                    </a:p>
                  </a:txBody>
                  <a:tcPr>
                    <a:solidFill>
                      <a:srgbClr val="F4F3EE"/>
                    </a:solidFill>
                  </a:tcPr>
                </a:tc>
                <a:tc>
                  <a:txBody>
                    <a:bodyPr/>
                    <a:lstStyle/>
                    <a:p>
                      <a:pPr>
                        <a:defRPr sz="1200" b="1">
                          <a:solidFill>
                            <a:srgbClr val="0B0B0B"/>
                          </a:solidFill>
                          <a:latin typeface="DejaVu Sans"/>
                        </a:defRPr>
                      </a:pPr>
                      <a:r>
                        <a:t>of which reasoning</a:t>
                      </a:r>
                    </a:p>
                  </a:txBody>
                  <a:tcPr>
                    <a:solidFill>
                      <a:srgbClr val="F4F3EE"/>
                    </a:solidFill>
                  </a:tcPr>
                </a:tc>
                <a:tc>
                  <a:txBody>
                    <a:bodyPr/>
                    <a:lstStyle/>
                    <a:p>
                      <a:pPr>
                        <a:defRPr sz="1200" b="1">
                          <a:solidFill>
                            <a:srgbClr val="0B0B0B"/>
                          </a:solidFill>
                          <a:latin typeface="DejaVu Sans"/>
                        </a:defRPr>
                      </a:pPr>
                      <a:r>
                        <a:t>billed</a:t>
                      </a:r>
                    </a:p>
                  </a:txBody>
                  <a:tcPr>
                    <a:solidFill>
                      <a:srgbClr val="F4F3EE"/>
                    </a:solidFill>
                  </a:tcPr>
                </a:tc>
              </a:tr>
              <a:tr h="457200">
                <a:tc>
                  <a:txBody>
                    <a:bodyPr/>
                    <a:lstStyle/>
                    <a:p>
                      <a:pPr>
                        <a:defRPr sz="1200" b="0">
                          <a:solidFill>
                            <a:srgbClr val="52514E"/>
                          </a:solidFill>
                          <a:latin typeface="DejaVu Sans"/>
                        </a:defRPr>
                      </a:pPr>
                      <a:r>
                        <a:t>engineer</a:t>
                      </a:r>
                    </a:p>
                  </a:txBody>
                  <a:tcPr>
                    <a:solidFill>
                      <a:srgbClr val="FCFCFB"/>
                    </a:solidFill>
                  </a:tcPr>
                </a:tc>
                <a:tc>
                  <a:txBody>
                    <a:bodyPr/>
                    <a:lstStyle/>
                    <a:p>
                      <a:pPr>
                        <a:defRPr sz="1200" b="0">
                          <a:solidFill>
                            <a:srgbClr val="52514E"/>
                          </a:solidFill>
                          <a:latin typeface="DejaVu Sans"/>
                        </a:defRPr>
                      </a:pPr>
                      <a:r>
                        <a:t>3</a:t>
                      </a:r>
                    </a:p>
                  </a:txBody>
                  <a:tcPr>
                    <a:solidFill>
                      <a:srgbClr val="FCFCFB"/>
                    </a:solidFill>
                  </a:tcPr>
                </a:tc>
                <a:tc>
                  <a:txBody>
                    <a:bodyPr/>
                    <a:lstStyle/>
                    <a:p>
                      <a:pPr>
                        <a:defRPr sz="1200" b="0">
                          <a:solidFill>
                            <a:srgbClr val="52514E"/>
                          </a:solidFill>
                          <a:latin typeface="DejaVu Sans"/>
                        </a:defRPr>
                      </a:pPr>
                      <a:r>
                        <a:t>1,755</a:t>
                      </a:r>
                    </a:p>
                  </a:txBody>
                  <a:tcPr>
                    <a:solidFill>
                      <a:srgbClr val="FCFCFB"/>
                    </a:solidFill>
                  </a:tcPr>
                </a:tc>
                <a:tc>
                  <a:txBody>
                    <a:bodyPr/>
                    <a:lstStyle/>
                    <a:p>
                      <a:pPr>
                        <a:defRPr sz="1200" b="0">
                          <a:solidFill>
                            <a:srgbClr val="52514E"/>
                          </a:solidFill>
                          <a:latin typeface="DejaVu Sans"/>
                        </a:defRPr>
                      </a:pPr>
                      <a:r>
                        <a:t>8,452</a:t>
                      </a:r>
                    </a:p>
                  </a:txBody>
                  <a:tcPr>
                    <a:solidFill>
                      <a:srgbClr val="FCFCFB"/>
                    </a:solidFill>
                  </a:tcPr>
                </a:tc>
                <a:tc>
                  <a:txBody>
                    <a:bodyPr/>
                    <a:lstStyle/>
                    <a:p>
                      <a:pPr>
                        <a:defRPr sz="1200" b="0">
                          <a:solidFill>
                            <a:srgbClr val="52514E"/>
                          </a:solidFill>
                          <a:latin typeface="DejaVu Sans"/>
                        </a:defRPr>
                      </a:pPr>
                      <a:r>
                        <a:t>5,568</a:t>
                      </a:r>
                    </a:p>
                  </a:txBody>
                  <a:tcPr>
                    <a:solidFill>
                      <a:srgbClr val="FCFCFB"/>
                    </a:solidFill>
                  </a:tcPr>
                </a:tc>
                <a:tc>
                  <a:txBody>
                    <a:bodyPr/>
                    <a:lstStyle/>
                    <a:p>
                      <a:pPr>
                        <a:defRPr sz="1200" b="0">
                          <a:solidFill>
                            <a:srgbClr val="52514E"/>
                          </a:solidFill>
                          <a:latin typeface="DejaVu Sans"/>
                        </a:defRPr>
                      </a:pPr>
                      <a:r>
                        <a:t>paid API</a:t>
                      </a:r>
                    </a:p>
                  </a:txBody>
                  <a:tcPr>
                    <a:solidFill>
                      <a:srgbClr val="FCFCFB"/>
                    </a:solidFill>
                  </a:tcPr>
                </a:tc>
              </a:tr>
              <a:tr h="457200">
                <a:tc>
                  <a:txBody>
                    <a:bodyPr/>
                    <a:lstStyle/>
                    <a:p>
                      <a:pPr>
                        <a:defRPr sz="1200" b="0">
                          <a:solidFill>
                            <a:srgbClr val="52514E"/>
                          </a:solidFill>
                          <a:latin typeface="DejaVu Sans"/>
                        </a:defRPr>
                      </a:pPr>
                      <a:r>
                        <a:t>gate</a:t>
                      </a:r>
                    </a:p>
                  </a:txBody>
                  <a:tcPr>
                    <a:solidFill>
                      <a:srgbClr val="FCFCFB"/>
                    </a:solidFill>
                  </a:tcPr>
                </a:tc>
                <a:tc>
                  <a:txBody>
                    <a:bodyPr/>
                    <a:lstStyle/>
                    <a:p>
                      <a:pPr>
                        <a:defRPr sz="1200" b="0">
                          <a:solidFill>
                            <a:srgbClr val="52514E"/>
                          </a:solidFill>
                          <a:latin typeface="DejaVu Sans"/>
                        </a:defRPr>
                      </a:pPr>
                      <a:r>
                        <a:t>4</a:t>
                      </a:r>
                    </a:p>
                  </a:txBody>
                  <a:tcPr>
                    <a:solidFill>
                      <a:srgbClr val="FCFCFB"/>
                    </a:solidFill>
                  </a:tcPr>
                </a:tc>
                <a:tc>
                  <a:txBody>
                    <a:bodyPr/>
                    <a:lstStyle/>
                    <a:p>
                      <a:pPr>
                        <a:defRPr sz="1200" b="0">
                          <a:solidFill>
                            <a:srgbClr val="52514E"/>
                          </a:solidFill>
                          <a:latin typeface="DejaVu Sans"/>
                        </a:defRPr>
                      </a:pPr>
                      <a:r>
                        <a:t>2,426</a:t>
                      </a:r>
                    </a:p>
                  </a:txBody>
                  <a:tcPr>
                    <a:solidFill>
                      <a:srgbClr val="FCFCFB"/>
                    </a:solidFill>
                  </a:tcPr>
                </a:tc>
                <a:tc>
                  <a:txBody>
                    <a:bodyPr/>
                    <a:lstStyle/>
                    <a:p>
                      <a:pPr>
                        <a:defRPr sz="1200" b="0">
                          <a:solidFill>
                            <a:srgbClr val="52514E"/>
                          </a:solidFill>
                          <a:latin typeface="DejaVu Sans"/>
                        </a:defRPr>
                      </a:pPr>
                      <a:r>
                        <a:t>2,836</a:t>
                      </a:r>
                    </a:p>
                  </a:txBody>
                  <a:tcPr>
                    <a:solidFill>
                      <a:srgbClr val="FCFCFB"/>
                    </a:solidFill>
                  </a:tcPr>
                </a:tc>
                <a:tc>
                  <a:txBody>
                    <a:bodyPr/>
                    <a:lstStyle/>
                    <a:p>
                      <a:pPr>
                        <a:defRPr sz="1200" b="0">
                          <a:solidFill>
                            <a:srgbClr val="52514E"/>
                          </a:solidFill>
                          <a:latin typeface="DejaVu Sans"/>
                        </a:defRPr>
                      </a:pPr>
                      <a:r>
                        <a:t>0</a:t>
                      </a:r>
                    </a:p>
                  </a:txBody>
                  <a:tcPr>
                    <a:solidFill>
                      <a:srgbClr val="FCFCFB"/>
                    </a:solidFill>
                  </a:tcPr>
                </a:tc>
                <a:tc>
                  <a:txBody>
                    <a:bodyPr/>
                    <a:lstStyle/>
                    <a:p>
                      <a:pPr>
                        <a:defRPr sz="1200" b="0">
                          <a:solidFill>
                            <a:srgbClr val="52514E"/>
                          </a:solidFill>
                          <a:latin typeface="DejaVu Sans"/>
                        </a:defRPr>
                      </a:pPr>
                      <a:r>
                        <a:t>local — free</a:t>
                      </a:r>
                    </a:p>
                  </a:txBody>
                  <a:tcPr>
                    <a:solidFill>
                      <a:srgbClr val="FCFCFB"/>
                    </a:solidFill>
                  </a:tcPr>
                </a:tc>
              </a:tr>
            </a:tbl>
          </a:graphicData>
        </a:graphic>
      </p:graphicFrame>
      <p:sp>
        <p:nvSpPr>
          <p:cNvPr id="5" name="Rounded Rectangle 4"/>
          <p:cNvSpPr/>
          <p:nvPr/>
        </p:nvSpPr>
        <p:spPr>
          <a:xfrm>
            <a:off x="548640" y="4206240"/>
            <a:ext cx="347472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315968"/>
            <a:ext cx="3108960" cy="548640"/>
          </a:xfrm>
          <a:prstGeom prst="rect">
            <a:avLst/>
          </a:prstGeom>
          <a:noFill/>
        </p:spPr>
        <p:txBody>
          <a:bodyPr wrap="square">
            <a:spAutoFit/>
          </a:bodyPr>
          <a:lstStyle/>
          <a:p>
            <a:pPr algn="l">
              <a:lnSpc>
                <a:spcPct val="115000"/>
              </a:lnSpc>
            </a:pPr>
            <a:r>
              <a:rPr sz="3000" b="1">
                <a:solidFill>
                  <a:srgbClr val="EB6834"/>
                </a:solidFill>
                <a:latin typeface="DejaVu Sans"/>
              </a:rPr>
              <a:t>4x</a:t>
            </a:r>
          </a:p>
        </p:txBody>
      </p:sp>
      <p:sp>
        <p:nvSpPr>
          <p:cNvPr id="7" name="TextBox 6"/>
          <p:cNvSpPr txBox="1"/>
          <p:nvPr/>
        </p:nvSpPr>
        <p:spPr>
          <a:xfrm>
            <a:off x="731520" y="4956048"/>
            <a:ext cx="3108960" cy="411480"/>
          </a:xfrm>
          <a:prstGeom prst="rect">
            <a:avLst/>
          </a:prstGeom>
          <a:noFill/>
        </p:spPr>
        <p:txBody>
          <a:bodyPr wrap="square">
            <a:spAutoFit/>
          </a:bodyPr>
          <a:lstStyle/>
          <a:p>
            <a:pPr algn="l">
              <a:lnSpc>
                <a:spcPct val="115000"/>
              </a:lnSpc>
            </a:pPr>
            <a:r>
              <a:rPr sz="1000" b="0">
                <a:solidFill>
                  <a:srgbClr val="52514E"/>
                </a:solidFill>
                <a:latin typeface="DejaVu Sans"/>
              </a:rPr>
              <a:t>one engineer call vs one gate call, in completion tokens</a:t>
            </a:r>
          </a:p>
        </p:txBody>
      </p:sp>
      <p:sp>
        <p:nvSpPr>
          <p:cNvPr id="8" name="Rounded Rectangle 7"/>
          <p:cNvSpPr/>
          <p:nvPr/>
        </p:nvSpPr>
        <p:spPr>
          <a:xfrm>
            <a:off x="4297680" y="4206240"/>
            <a:ext cx="347472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4315968"/>
            <a:ext cx="3108960" cy="548640"/>
          </a:xfrm>
          <a:prstGeom prst="rect">
            <a:avLst/>
          </a:prstGeom>
          <a:noFill/>
        </p:spPr>
        <p:txBody>
          <a:bodyPr wrap="square">
            <a:spAutoFit/>
          </a:bodyPr>
          <a:lstStyle/>
          <a:p>
            <a:pPr algn="l">
              <a:lnSpc>
                <a:spcPct val="115000"/>
              </a:lnSpc>
            </a:pPr>
            <a:r>
              <a:rPr sz="3000" b="1">
                <a:solidFill>
                  <a:srgbClr val="2A78D6"/>
                </a:solidFill>
                <a:latin typeface="DejaVu Sans"/>
              </a:rPr>
              <a:t>2,836</a:t>
            </a:r>
          </a:p>
        </p:txBody>
      </p:sp>
      <p:sp>
        <p:nvSpPr>
          <p:cNvPr id="10" name="TextBox 9"/>
          <p:cNvSpPr txBox="1"/>
          <p:nvPr/>
        </p:nvSpPr>
        <p:spPr>
          <a:xfrm>
            <a:off x="4480560" y="4956048"/>
            <a:ext cx="3108960" cy="411480"/>
          </a:xfrm>
          <a:prstGeom prst="rect">
            <a:avLst/>
          </a:prstGeom>
          <a:noFill/>
        </p:spPr>
        <p:txBody>
          <a:bodyPr wrap="square">
            <a:spAutoFit/>
          </a:bodyPr>
          <a:lstStyle/>
          <a:p>
            <a:pPr algn="l">
              <a:lnSpc>
                <a:spcPct val="115000"/>
              </a:lnSpc>
            </a:pPr>
            <a:r>
              <a:rPr sz="1000" b="0">
                <a:solidFill>
                  <a:srgbClr val="52514E"/>
                </a:solidFill>
                <a:latin typeface="DejaVu Sans"/>
              </a:rPr>
              <a:t>gate tokens — all local, none billed</a:t>
            </a:r>
          </a:p>
        </p:txBody>
      </p:sp>
      <p:sp>
        <p:nvSpPr>
          <p:cNvPr id="11" name="Rounded Rectangle 10"/>
          <p:cNvSpPr/>
          <p:nvPr/>
        </p:nvSpPr>
        <p:spPr>
          <a:xfrm>
            <a:off x="8046720" y="4206240"/>
            <a:ext cx="356616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315968"/>
            <a:ext cx="3200400" cy="548640"/>
          </a:xfrm>
          <a:prstGeom prst="rect">
            <a:avLst/>
          </a:prstGeom>
          <a:noFill/>
        </p:spPr>
        <p:txBody>
          <a:bodyPr wrap="square">
            <a:spAutoFit/>
          </a:bodyPr>
          <a:lstStyle/>
          <a:p>
            <a:pPr algn="l">
              <a:lnSpc>
                <a:spcPct val="115000"/>
              </a:lnSpc>
            </a:pPr>
            <a:r>
              <a:rPr sz="3000" b="1">
                <a:solidFill>
                  <a:srgbClr val="EB6834"/>
                </a:solidFill>
                <a:latin typeface="DejaVu Sans"/>
              </a:rPr>
              <a:t>5,568</a:t>
            </a:r>
          </a:p>
        </p:txBody>
      </p:sp>
      <p:sp>
        <p:nvSpPr>
          <p:cNvPr id="13" name="TextBox 12"/>
          <p:cNvSpPr txBox="1"/>
          <p:nvPr/>
        </p:nvSpPr>
        <p:spPr>
          <a:xfrm>
            <a:off x="8229600" y="4956048"/>
            <a:ext cx="3200400" cy="411480"/>
          </a:xfrm>
          <a:prstGeom prst="rect">
            <a:avLst/>
          </a:prstGeom>
          <a:noFill/>
        </p:spPr>
        <p:txBody>
          <a:bodyPr wrap="square">
            <a:spAutoFit/>
          </a:bodyPr>
          <a:lstStyle/>
          <a:p>
            <a:pPr algn="l">
              <a:lnSpc>
                <a:spcPct val="115000"/>
              </a:lnSpc>
            </a:pPr>
            <a:r>
              <a:rPr sz="1000" b="0">
                <a:solidFill>
                  <a:srgbClr val="52514E"/>
                </a:solidFill>
                <a:latin typeface="DejaVu Sans"/>
              </a:rPr>
              <a:t>engineer reasoning tokens: billed, never seen in the output</a:t>
            </a:r>
          </a:p>
        </p:txBody>
      </p:sp>
      <p:sp>
        <p:nvSpPr>
          <p:cNvPr id="14" name="TextBox 13"/>
          <p:cNvSpPr txBox="1"/>
          <p:nvPr/>
        </p:nvSpPr>
        <p:spPr>
          <a:xfrm>
            <a:off x="548640" y="5760720"/>
            <a:ext cx="11064240" cy="822960"/>
          </a:xfrm>
          <a:prstGeom prst="rect">
            <a:avLst/>
          </a:prstGeom>
          <a:noFill/>
        </p:spPr>
        <p:txBody>
          <a:bodyPr wrap="square">
            <a:spAutoFit/>
          </a:bodyPr>
          <a:lstStyle/>
          <a:p>
            <a:pPr algn="l">
              <a:lnSpc>
                <a:spcPct val="115000"/>
              </a:lnSpc>
            </a:pPr>
            <a:r>
              <a:rPr sz="1300" b="0">
                <a:solidFill>
                  <a:srgbClr val="52514E"/>
                </a:solidFill>
                <a:latin typeface="DejaVu Sans"/>
              </a:rPr>
              <a:t>What Gate 1 changes on the bill is rewrites: each rejection buys another engineer call. A rejection that names the real fault is a rewrite the agent does not waste — which is why the shadowed-contract check was worth adding.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THE PROBLEM</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One line produced both the silent failure and the fabrication</a:t>
            </a:r>
          </a:p>
        </p:txBody>
      </p:sp>
      <p:sp>
        <p:nvSpPr>
          <p:cNvPr id="4" name="Rounded Rectangle 3"/>
          <p:cNvSpPr/>
          <p:nvPr/>
        </p:nvSpPr>
        <p:spPr>
          <a:xfrm>
            <a:off x="548640" y="1554480"/>
            <a:ext cx="11064240" cy="137160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10515600" cy="1097280"/>
          </a:xfrm>
          <a:prstGeom prst="rect">
            <a:avLst/>
          </a:prstGeom>
          <a:noFill/>
        </p:spPr>
        <p:txBody>
          <a:bodyPr wrap="square">
            <a:spAutoFit/>
          </a:bodyPr>
          <a:lstStyle/>
          <a:p>
            <a:pPr algn="l">
              <a:lnSpc>
                <a:spcPct val="115000"/>
              </a:lnSpc>
            </a:pPr>
            <a:r>
              <a:rPr sz="1500" b="1">
                <a:solidFill>
                  <a:srgbClr val="0B0B0B"/>
                </a:solidFill>
                <a:latin typeface="DejaVu Sans"/>
              </a:rPr>
              <a:t>return output_capture.getvalue()[:MAX_LEN]      # MAX_LEN = 1000</a:t>
            </a:r>
          </a:p>
          <a:p>
            <a:pPr algn="l">
              <a:lnSpc>
                <a:spcPct val="115000"/>
              </a:lnSpc>
            </a:pPr>
            <a:r>
              <a:rPr sz="1200" b="0">
                <a:solidFill>
                  <a:srgbClr val="52514E"/>
                </a:solidFill>
                <a:latin typeface="DejaVu Sans"/>
              </a:rPr>
              <a:t>the crash marker is appended AFTER the program's own output — so it falls off the end of the same slice</a:t>
            </a:r>
          </a:p>
        </p:txBody>
      </p:sp>
      <p:sp>
        <p:nvSpPr>
          <p:cNvPr id="6" name="TextBox 5"/>
          <p:cNvSpPr txBox="1"/>
          <p:nvPr/>
        </p:nvSpPr>
        <p:spPr>
          <a:xfrm>
            <a:off x="548640" y="3200400"/>
            <a:ext cx="10972800" cy="3657600"/>
          </a:xfrm>
          <a:prstGeom prst="rect">
            <a:avLst/>
          </a:prstGeom>
          <a:noFill/>
        </p:spPr>
        <p:txBody>
          <a:bodyPr wrap="square">
            <a:spAutoFit/>
          </a:bodyPr>
          <a:lstStyle/>
          <a:p>
            <a:pPr algn="l">
              <a:lnSpc>
                <a:spcPct val="150000"/>
              </a:lnSpc>
            </a:pPr>
            <a:r>
              <a:rPr sz="1400" b="0">
                <a:solidFill>
                  <a:srgbClr val="52514E"/>
                </a:solidFill>
                <a:latin typeface="DejaVu Sans"/>
              </a:rPr>
              <a:t>·  The writing agent received 1,000 characters as the entire experimental record</a:t>
            </a:r>
          </a:p>
          <a:p>
            <a:pPr algn="l">
              <a:lnSpc>
                <a:spcPct val="150000"/>
              </a:lnSpc>
            </a:pPr>
            <a:r>
              <a:rPr sz="1400" b="0">
                <a:solidFill>
                  <a:srgbClr val="52514E"/>
                </a:solidFill>
                <a:latin typeface="DejaVu Sans"/>
              </a:rPr>
              <a:t>·  The only crash test was a substring search for a marker that was no longer there</a:t>
            </a:r>
          </a:p>
          <a:p>
            <a:pPr algn="l">
              <a:lnSpc>
                <a:spcPct val="150000"/>
              </a:lnSpc>
            </a:pPr>
            <a:r>
              <a:rPr sz="1400" b="0">
                <a:solidFill>
                  <a:srgbClr val="52514E"/>
                </a:solidFill>
                <a:latin typeface="DejaVu Sans"/>
              </a:rPr>
              <a:t>·  Execution ran in a never-cleared namespace, in a thread the timeout could not kill</a:t>
            </a:r>
          </a:p>
        </p:txBody>
      </p:sp>
      <p:sp>
        <p:nvSpPr>
          <p:cNvPr id="7" name="Rounded Rectangle 6"/>
          <p:cNvSpPr/>
          <p:nvPr/>
        </p:nvSpPr>
        <p:spPr>
          <a:xfrm>
            <a:off x="548640" y="5029200"/>
            <a:ext cx="274320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138928"/>
            <a:ext cx="2377440" cy="548640"/>
          </a:xfrm>
          <a:prstGeom prst="rect">
            <a:avLst/>
          </a:prstGeom>
          <a:noFill/>
        </p:spPr>
        <p:txBody>
          <a:bodyPr wrap="square">
            <a:spAutoFit/>
          </a:bodyPr>
          <a:lstStyle/>
          <a:p>
            <a:pPr algn="l">
              <a:lnSpc>
                <a:spcPct val="115000"/>
              </a:lnSpc>
            </a:pPr>
            <a:r>
              <a:rPr sz="3000" b="1">
                <a:solidFill>
                  <a:srgbClr val="EB6834"/>
                </a:solidFill>
                <a:latin typeface="DejaVu Sans"/>
              </a:rPr>
              <a:t>1.0</a:t>
            </a:r>
          </a:p>
        </p:txBody>
      </p:sp>
      <p:sp>
        <p:nvSpPr>
          <p:cNvPr id="9" name="TextBox 8"/>
          <p:cNvSpPr txBox="1"/>
          <p:nvPr/>
        </p:nvSpPr>
        <p:spPr>
          <a:xfrm>
            <a:off x="731520" y="5779008"/>
            <a:ext cx="2377440" cy="411480"/>
          </a:xfrm>
          <a:prstGeom prst="rect">
            <a:avLst/>
          </a:prstGeom>
          <a:noFill/>
        </p:spPr>
        <p:txBody>
          <a:bodyPr wrap="square">
            <a:spAutoFit/>
          </a:bodyPr>
          <a:lstStyle/>
          <a:p>
            <a:pPr algn="l">
              <a:lnSpc>
                <a:spcPct val="115000"/>
              </a:lnSpc>
            </a:pPr>
            <a:r>
              <a:rPr sz="1000" b="0">
                <a:solidFill>
                  <a:srgbClr val="52514E"/>
                </a:solidFill>
                <a:latin typeface="DejaVu Sans"/>
              </a:rPr>
              <a:t>reward score on a run raising NameError every attempt</a:t>
            </a:r>
          </a:p>
        </p:txBody>
      </p:sp>
      <p:sp>
        <p:nvSpPr>
          <p:cNvPr id="10" name="Rounded Rectangle 9"/>
          <p:cNvSpPr/>
          <p:nvPr/>
        </p:nvSpPr>
        <p:spPr>
          <a:xfrm>
            <a:off x="3566160" y="5029200"/>
            <a:ext cx="274320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5138928"/>
            <a:ext cx="2377440" cy="548640"/>
          </a:xfrm>
          <a:prstGeom prst="rect">
            <a:avLst/>
          </a:prstGeom>
          <a:noFill/>
        </p:spPr>
        <p:txBody>
          <a:bodyPr wrap="square">
            <a:spAutoFit/>
          </a:bodyPr>
          <a:lstStyle/>
          <a:p>
            <a:pPr algn="l">
              <a:lnSpc>
                <a:spcPct val="115000"/>
              </a:lnSpc>
            </a:pPr>
            <a:r>
              <a:rPr sz="3000" b="1">
                <a:solidFill>
                  <a:srgbClr val="EB6834"/>
                </a:solidFill>
                <a:latin typeface="DejaVu Sans"/>
              </a:rPr>
              <a:t>81.60%</a:t>
            </a:r>
          </a:p>
        </p:txBody>
      </p:sp>
      <p:sp>
        <p:nvSpPr>
          <p:cNvPr id="12" name="TextBox 11"/>
          <p:cNvSpPr txBox="1"/>
          <p:nvPr/>
        </p:nvSpPr>
        <p:spPr>
          <a:xfrm>
            <a:off x="3749040" y="5779008"/>
            <a:ext cx="2377440" cy="411480"/>
          </a:xfrm>
          <a:prstGeom prst="rect">
            <a:avLst/>
          </a:prstGeom>
          <a:noFill/>
        </p:spPr>
        <p:txBody>
          <a:bodyPr wrap="square">
            <a:spAutoFit/>
          </a:bodyPr>
          <a:lstStyle/>
          <a:p>
            <a:pPr algn="l">
              <a:lnSpc>
                <a:spcPct val="115000"/>
              </a:lnSpc>
            </a:pPr>
            <a:r>
              <a:rPr sz="1000" b="0">
                <a:solidFill>
                  <a:srgbClr val="52514E"/>
                </a:solidFill>
                <a:latin typeface="DejaVu Sans"/>
              </a:rPr>
              <a:t>test accuracy reported — never measured</a:t>
            </a:r>
          </a:p>
        </p:txBody>
      </p:sp>
      <p:sp>
        <p:nvSpPr>
          <p:cNvPr id="13" name="Rounded Rectangle 12"/>
          <p:cNvSpPr/>
          <p:nvPr/>
        </p:nvSpPr>
        <p:spPr>
          <a:xfrm>
            <a:off x="6583680" y="5029200"/>
            <a:ext cx="274320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5138928"/>
            <a:ext cx="2377440" cy="548640"/>
          </a:xfrm>
          <a:prstGeom prst="rect">
            <a:avLst/>
          </a:prstGeom>
          <a:noFill/>
        </p:spPr>
        <p:txBody>
          <a:bodyPr wrap="square">
            <a:spAutoFit/>
          </a:bodyPr>
          <a:lstStyle/>
          <a:p>
            <a:pPr algn="l">
              <a:lnSpc>
                <a:spcPct val="115000"/>
              </a:lnSpc>
            </a:pPr>
            <a:r>
              <a:rPr sz="3000" b="1">
                <a:solidFill>
                  <a:srgbClr val="EB6834"/>
                </a:solidFill>
                <a:latin typeface="DejaVu Sans"/>
              </a:rPr>
              <a:t>13.61×</a:t>
            </a:r>
          </a:p>
        </p:txBody>
      </p:sp>
      <p:sp>
        <p:nvSpPr>
          <p:cNvPr id="15" name="TextBox 14"/>
          <p:cNvSpPr txBox="1"/>
          <p:nvPr/>
        </p:nvSpPr>
        <p:spPr>
          <a:xfrm>
            <a:off x="6766560" y="5779008"/>
            <a:ext cx="2377440" cy="411480"/>
          </a:xfrm>
          <a:prstGeom prst="rect">
            <a:avLst/>
          </a:prstGeom>
          <a:noFill/>
        </p:spPr>
        <p:txBody>
          <a:bodyPr wrap="square">
            <a:spAutoFit/>
          </a:bodyPr>
          <a:lstStyle/>
          <a:p>
            <a:pPr algn="l">
              <a:lnSpc>
                <a:spcPct val="115000"/>
              </a:lnSpc>
            </a:pPr>
            <a:r>
              <a:rPr sz="1000" b="0">
                <a:solidFill>
                  <a:srgbClr val="52514E"/>
                </a:solidFill>
                <a:latin typeface="DejaVu Sans"/>
              </a:rPr>
              <a:t>speedup reported — never measured</a:t>
            </a:r>
          </a:p>
        </p:txBody>
      </p:sp>
      <p:sp>
        <p:nvSpPr>
          <p:cNvPr id="16" name="Rounded Rectangle 15"/>
          <p:cNvSpPr/>
          <p:nvPr/>
        </p:nvSpPr>
        <p:spPr>
          <a:xfrm>
            <a:off x="9601200" y="5029200"/>
            <a:ext cx="2011680" cy="12344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0" y="5138928"/>
            <a:ext cx="1645920" cy="548640"/>
          </a:xfrm>
          <a:prstGeom prst="rect">
            <a:avLst/>
          </a:prstGeom>
          <a:noFill/>
        </p:spPr>
        <p:txBody>
          <a:bodyPr wrap="square">
            <a:spAutoFit/>
          </a:bodyPr>
          <a:lstStyle/>
          <a:p>
            <a:pPr algn="l">
              <a:lnSpc>
                <a:spcPct val="115000"/>
              </a:lnSpc>
            </a:pPr>
            <a:r>
              <a:rPr sz="3000" b="1">
                <a:solidFill>
                  <a:srgbClr val="8A8880"/>
                </a:solidFill>
                <a:latin typeface="DejaVu Sans"/>
              </a:rPr>
              <a:t>n=1</a:t>
            </a:r>
          </a:p>
        </p:txBody>
      </p:sp>
      <p:sp>
        <p:nvSpPr>
          <p:cNvPr id="18" name="TextBox 17"/>
          <p:cNvSpPr txBox="1"/>
          <p:nvPr/>
        </p:nvSpPr>
        <p:spPr>
          <a:xfrm>
            <a:off x="9784080" y="5779008"/>
            <a:ext cx="1645920" cy="411480"/>
          </a:xfrm>
          <a:prstGeom prst="rect">
            <a:avLst/>
          </a:prstGeom>
          <a:noFill/>
        </p:spPr>
        <p:txBody>
          <a:bodyPr wrap="square">
            <a:spAutoFit/>
          </a:bodyPr>
          <a:lstStyle/>
          <a:p>
            <a:pPr algn="l">
              <a:lnSpc>
                <a:spcPct val="115000"/>
              </a:lnSpc>
            </a:pPr>
            <a:r>
              <a:rPr sz="1000" b="0">
                <a:solidFill>
                  <a:srgbClr val="52514E"/>
                </a:solidFill>
                <a:latin typeface="DejaVu Sans"/>
              </a:rPr>
              <a:t>archived runs usable of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WHAT GATE 1 CHECKS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20 deterministic checks in six families</a:t>
            </a:r>
          </a:p>
        </p:txBody>
      </p:sp>
      <p:pic>
        <p:nvPicPr>
          <p:cNvPr id="4" name="Picture 3" descr="checks.png"/>
          <p:cNvPicPr>
            <a:picLocks noChangeAspect="1"/>
          </p:cNvPicPr>
          <p:nvPr/>
        </p:nvPicPr>
        <p:blipFill>
          <a:blip r:embed="rId2"/>
          <a:stretch>
            <a:fillRect/>
          </a:stretch>
        </p:blipFill>
        <p:spPr>
          <a:xfrm>
            <a:off x="548640" y="1508760"/>
            <a:ext cx="6473450" cy="4023360"/>
          </a:xfrm>
          <a:prstGeom prst="rect">
            <a:avLst/>
          </a:prstGeom>
        </p:spPr>
      </p:pic>
      <p:sp>
        <p:nvSpPr>
          <p:cNvPr id="5" name="Rounded Rectangle 4"/>
          <p:cNvSpPr/>
          <p:nvPr/>
        </p:nvSpPr>
        <p:spPr>
          <a:xfrm>
            <a:off x="7772400" y="1508760"/>
            <a:ext cx="3840480" cy="42062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691640"/>
            <a:ext cx="3383280" cy="3840480"/>
          </a:xfrm>
          <a:prstGeom prst="rect">
            <a:avLst/>
          </a:prstGeom>
          <a:noFill/>
        </p:spPr>
        <p:txBody>
          <a:bodyPr wrap="square">
            <a:spAutoFit/>
          </a:bodyPr>
          <a:lstStyle/>
          <a:p>
            <a:pPr algn="l">
              <a:lnSpc>
                <a:spcPct val="115000"/>
              </a:lnSpc>
            </a:pPr>
            <a:r>
              <a:rPr sz="1400" b="1">
                <a:solidFill>
                  <a:srgbClr val="0B0B0B"/>
                </a:solidFill>
                <a:latin typeface="DejaVu Sans"/>
              </a:rPr>
              <a:t>The severity split is the design</a:t>
            </a:r>
          </a:p>
          <a:p>
            <a:pPr algn="l">
              <a:lnSpc>
                <a:spcPct val="115000"/>
              </a:lnSpc>
            </a:pPr>
            <a:r>
              <a:rPr sz="1100" b="0">
                <a:solidFill>
                  <a:srgbClr val="52514E"/>
                </a:solidFill>
                <a:latin typeface="DejaVu Sans"/>
              </a:rPr>
              <a:t>FAIL blocks the run. WARN and INFO are reported, propagate into the evidence bundle, and can never change a verdict.</a:t>
            </a:r>
          </a:p>
          <a:p>
            <a:pPr algn="l">
              <a:lnSpc>
                <a:spcPct val="115000"/>
              </a:lnSpc>
            </a:pPr>
            <a:r>
              <a:rPr sz="800" b="0">
                <a:solidFill>
                  <a:srgbClr val="52514E"/>
                </a:solidFill>
                <a:latin typeface="DejaVu Sans"/>
              </a:rPr>
              <a:t/>
            </a:r>
          </a:p>
          <a:p>
            <a:pPr algn="l">
              <a:lnSpc>
                <a:spcPct val="115000"/>
              </a:lnSpc>
            </a:pPr>
            <a:r>
              <a:rPr sz="1100" b="0">
                <a:solidFill>
                  <a:srgbClr val="52514E"/>
                </a:solidFill>
                <a:latin typeface="DejaVu Sans"/>
              </a:rPr>
              <a:t>That is what lets a REQUIRED LLM layer coexist with a model-free verdict: model findings are WARN by construction, and the feedback report is written after decide() has already fixed the outcome.</a:t>
            </a:r>
          </a:p>
          <a:p>
            <a:pPr algn="l">
              <a:lnSpc>
                <a:spcPct val="115000"/>
              </a:lnSpc>
            </a:pPr>
            <a:r>
              <a:rPr sz="800" b="0">
                <a:solidFill>
                  <a:srgbClr val="52514E"/>
                </a:solidFill>
                <a:latin typeface="DejaVu Sans"/>
              </a:rPr>
              <a:t/>
            </a:r>
          </a:p>
          <a:p>
            <a:pPr algn="l">
              <a:lnSpc>
                <a:spcPct val="115000"/>
              </a:lnSpc>
            </a:pPr>
            <a:r>
              <a:rPr sz="1000" b="0">
                <a:solidFill>
                  <a:srgbClr val="8A8880"/>
                </a:solidFill>
                <a:latin typeface="DejaVu Sans"/>
              </a:rPr>
              <a:t>A test parses the module's AST to assert Severity.FAIL never appears in an expression there.</a:t>
            </a:r>
          </a:p>
        </p:txBody>
      </p:sp>
      <p:sp>
        <p:nvSpPr>
          <p:cNvPr id="7" name="TextBox 6"/>
          <p:cNvSpPr txBox="1"/>
          <p:nvPr/>
        </p:nvSpPr>
        <p:spPr>
          <a:xfrm>
            <a:off x="548640" y="5943600"/>
            <a:ext cx="10972800" cy="457200"/>
          </a:xfrm>
          <a:prstGeom prst="rect">
            <a:avLst/>
          </a:prstGeom>
          <a:noFill/>
        </p:spPr>
        <p:txBody>
          <a:bodyPr wrap="square">
            <a:spAutoFit/>
          </a:bodyPr>
          <a:lstStyle/>
          <a:p>
            <a:pPr algn="l">
              <a:lnSpc>
                <a:spcPct val="115000"/>
              </a:lnSpc>
            </a:pPr>
            <a:r>
              <a:rPr sz="1100" b="0">
                <a:solidFill>
                  <a:srgbClr val="52514E"/>
                </a:solidFill>
                <a:latin typeface="DejaVu Sans"/>
              </a:rPr>
              <a:t>results.values_computed is the strongest claim: record_result("k", acc) passes, record_result("k", 0.816) fails — and round(0.8160, 3) fails too, because constant folding does not launder a typed number.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LOGS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Collapse the log, then read what the patterns cannot reach</a:t>
            </a:r>
          </a:p>
        </p:txBody>
      </p:sp>
      <p:pic>
        <p:nvPicPr>
          <p:cNvPr id="4" name="Picture 3" descr="compression.png"/>
          <p:cNvPicPr>
            <a:picLocks noChangeAspect="1"/>
          </p:cNvPicPr>
          <p:nvPr/>
        </p:nvPicPr>
        <p:blipFill>
          <a:blip r:embed="rId2"/>
          <a:stretch>
            <a:fillRect/>
          </a:stretch>
        </p:blipFill>
        <p:spPr>
          <a:xfrm>
            <a:off x="548640" y="1371600"/>
            <a:ext cx="4697143" cy="2011680"/>
          </a:xfrm>
          <a:prstGeom prst="rect">
            <a:avLst/>
          </a:prstGeom>
        </p:spPr>
      </p:pic>
      <p:pic>
        <p:nvPicPr>
          <p:cNvPr id="5" name="Picture 4" descr="scanner.png"/>
          <p:cNvPicPr>
            <a:picLocks noChangeAspect="1"/>
          </p:cNvPicPr>
          <p:nvPr/>
        </p:nvPicPr>
        <p:blipFill>
          <a:blip r:embed="rId3"/>
          <a:stretch>
            <a:fillRect/>
          </a:stretch>
        </p:blipFill>
        <p:spPr>
          <a:xfrm>
            <a:off x="548640" y="3566160"/>
            <a:ext cx="4453794" cy="2926080"/>
          </a:xfrm>
          <a:prstGeom prst="rect">
            <a:avLst/>
          </a:prstGeom>
        </p:spPr>
      </p:pic>
      <p:sp>
        <p:nvSpPr>
          <p:cNvPr id="6" name="Rounded Rectangle 5"/>
          <p:cNvSpPr/>
          <p:nvPr/>
        </p:nvSpPr>
        <p:spPr>
          <a:xfrm>
            <a:off x="6858000" y="1371600"/>
            <a:ext cx="4754880" cy="493776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554480"/>
            <a:ext cx="4206240" cy="4572000"/>
          </a:xfrm>
          <a:prstGeom prst="rect">
            <a:avLst/>
          </a:prstGeom>
          <a:noFill/>
        </p:spPr>
        <p:txBody>
          <a:bodyPr wrap="square">
            <a:spAutoFit/>
          </a:bodyPr>
          <a:lstStyle/>
          <a:p>
            <a:pPr algn="l">
              <a:lnSpc>
                <a:spcPct val="115000"/>
              </a:lnSpc>
            </a:pPr>
            <a:r>
              <a:rPr sz="1400" b="1">
                <a:solidFill>
                  <a:srgbClr val="0B0B0B"/>
                </a:solidFill>
                <a:latin typeface="DejaVu Sans"/>
              </a:rPr>
              <a:t>Lossless in distinct content</a:t>
            </a:r>
          </a:p>
          <a:p>
            <a:pPr algn="l">
              <a:lnSpc>
                <a:spcPct val="115000"/>
              </a:lnSpc>
            </a:pPr>
            <a:r>
              <a:rPr sz="1100" b="0">
                <a:solidFill>
                  <a:srgbClr val="52514E"/>
                </a:solidFill>
                <a:latin typeface="DejaVu Sans"/>
              </a:rPr>
              <a:t>203 non-blank lines → 4 distinct shapes. Every shape survives with its first real line number, so nothing a scanner could flag disappears — recall is not traded for the saving.</a:t>
            </a:r>
          </a:p>
          <a:p>
            <a:pPr algn="l">
              <a:lnSpc>
                <a:spcPct val="115000"/>
              </a:lnSpc>
            </a:pPr>
            <a:r>
              <a:rPr sz="800" b="0">
                <a:solidFill>
                  <a:srgbClr val="52514E"/>
                </a:solidFill>
                <a:latin typeface="DejaVu Sans"/>
              </a:rPr>
              <a:t/>
            </a:r>
          </a:p>
          <a:p>
            <a:pPr algn="l">
              <a:lnSpc>
                <a:spcPct val="115000"/>
              </a:lnSpc>
            </a:pPr>
            <a:r>
              <a:rPr sz="1100" b="0">
                <a:solidFill>
                  <a:srgbClr val="52514E"/>
                </a:solidFill>
                <a:latin typeface="DejaVu Sans"/>
              </a:rPr>
              <a:t>nan and inf are not digits, so 'loss nan' survives as its own shape rather than being absorbed into the epoch group.</a:t>
            </a:r>
          </a:p>
          <a:p>
            <a:pPr algn="l">
              <a:lnSpc>
                <a:spcPct val="115000"/>
              </a:lnSpc>
            </a:pPr>
            <a:r>
              <a:rPr sz="800" b="0">
                <a:solidFill>
                  <a:srgbClr val="52514E"/>
                </a:solidFill>
                <a:latin typeface="DejaVu Sans"/>
              </a:rPr>
              <a:t/>
            </a:r>
          </a:p>
          <a:p>
            <a:pPr algn="l">
              <a:lnSpc>
                <a:spcPct val="115000"/>
              </a:lnSpc>
            </a:pPr>
            <a:r>
              <a:rPr sz="1400" b="1">
                <a:solidFill>
                  <a:srgbClr val="0B0B0B"/>
                </a:solidFill>
                <a:latin typeface="DejaVu Sans"/>
              </a:rPr>
              <a:t>Precision is the floor</a:t>
            </a:r>
          </a:p>
          <a:p>
            <a:pPr algn="l">
              <a:lnSpc>
                <a:spcPct val="115000"/>
              </a:lnSpc>
            </a:pPr>
            <a:r>
              <a:rPr sz="1100" b="0">
                <a:solidFill>
                  <a:srgbClr val="52514E"/>
                </a:solidFill>
                <a:latin typeface="DejaVu Sans"/>
              </a:rPr>
              <a:t>These findings are WARN and cannot force a rewrite. What a false positive does is put a non-issue into the section the writer is told it must disclose — so the paper reports a problem that never happened. The corpus includes TensorFlow's cuFFT notice and oneDNN's banner: E-level, CUDA-adjacent, and on every healthy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THE RUNS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Five runs, three models, nine defects found</a:t>
            </a:r>
          </a:p>
        </p:txBody>
      </p:sp>
      <p:sp>
        <p:nvSpPr>
          <p:cNvPr id="4" name="Rounded Rectangle 3"/>
          <p:cNvSpPr/>
          <p:nvPr/>
        </p:nvSpPr>
        <p:spPr>
          <a:xfrm>
            <a:off x="548640" y="1600200"/>
            <a:ext cx="11064240" cy="749808"/>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2743200" cy="548640"/>
          </a:xfrm>
          <a:prstGeom prst="rect">
            <a:avLst/>
          </a:prstGeom>
          <a:noFill/>
        </p:spPr>
        <p:txBody>
          <a:bodyPr wrap="square">
            <a:spAutoFit/>
          </a:bodyPr>
          <a:lstStyle/>
          <a:p>
            <a:pPr algn="l">
              <a:lnSpc>
                <a:spcPct val="115000"/>
              </a:lnSpc>
            </a:pPr>
            <a:r>
              <a:rPr sz="1300" b="1">
                <a:solidFill>
                  <a:srgbClr val="0B0B0B"/>
                </a:solidFill>
                <a:latin typeface="DejaVu Sans"/>
              </a:rPr>
              <a:t>Loop rig · 5 scenarios</a:t>
            </a:r>
          </a:p>
        </p:txBody>
      </p:sp>
      <p:sp>
        <p:nvSpPr>
          <p:cNvPr id="6" name="TextBox 5"/>
          <p:cNvSpPr txBox="1"/>
          <p:nvPr/>
        </p:nvSpPr>
        <p:spPr>
          <a:xfrm>
            <a:off x="3566160" y="1719072"/>
            <a:ext cx="2194560" cy="457200"/>
          </a:xfrm>
          <a:prstGeom prst="rect">
            <a:avLst/>
          </a:prstGeom>
          <a:noFill/>
        </p:spPr>
        <p:txBody>
          <a:bodyPr wrap="square">
            <a:spAutoFit/>
          </a:bodyPr>
          <a:lstStyle/>
          <a:p>
            <a:pPr algn="l">
              <a:lnSpc>
                <a:spcPct val="115000"/>
              </a:lnSpc>
            </a:pPr>
            <a:r>
              <a:rPr sz="1100" b="0">
                <a:solidFill>
                  <a:srgbClr val="2A78D6"/>
                </a:solidFill>
                <a:latin typeface="DejaVu Sans"/>
              </a:rPr>
              <a:t>scripted</a:t>
            </a:r>
          </a:p>
        </p:txBody>
      </p:sp>
      <p:sp>
        <p:nvSpPr>
          <p:cNvPr id="7" name="TextBox 6"/>
          <p:cNvSpPr txBox="1"/>
          <p:nvPr/>
        </p:nvSpPr>
        <p:spPr>
          <a:xfrm>
            <a:off x="5852160" y="1719072"/>
            <a:ext cx="5577840" cy="548640"/>
          </a:xfrm>
          <a:prstGeom prst="rect">
            <a:avLst/>
          </a:prstGeom>
          <a:noFill/>
        </p:spPr>
        <p:txBody>
          <a:bodyPr wrap="square">
            <a:spAutoFit/>
          </a:bodyPr>
          <a:lstStyle/>
          <a:p>
            <a:pPr algn="l">
              <a:lnSpc>
                <a:spcPct val="115000"/>
              </a:lnSpc>
            </a:pPr>
            <a:r>
              <a:rPr sz="1100" b="0">
                <a:solidFill>
                  <a:srgbClr val="52514E"/>
                </a:solidFill>
                <a:latin typeface="DejaVu Sans"/>
              </a:rPr>
              <a:t>All five behave as documented; 6 turns rejected, upstream would have taken 3</a:t>
            </a:r>
          </a:p>
        </p:txBody>
      </p:sp>
      <p:sp>
        <p:nvSpPr>
          <p:cNvPr id="8" name="Rounded Rectangle 7"/>
          <p:cNvSpPr/>
          <p:nvPr/>
        </p:nvSpPr>
        <p:spPr>
          <a:xfrm>
            <a:off x="548640" y="2468880"/>
            <a:ext cx="11064240" cy="749808"/>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60320"/>
            <a:ext cx="2743200" cy="548640"/>
          </a:xfrm>
          <a:prstGeom prst="rect">
            <a:avLst/>
          </a:prstGeom>
          <a:noFill/>
        </p:spPr>
        <p:txBody>
          <a:bodyPr wrap="square">
            <a:spAutoFit/>
          </a:bodyPr>
          <a:lstStyle/>
          <a:p>
            <a:pPr algn="l">
              <a:lnSpc>
                <a:spcPct val="115000"/>
              </a:lnSpc>
            </a:pPr>
            <a:r>
              <a:rPr sz="1300" b="1">
                <a:solidFill>
                  <a:srgbClr val="0B0B0B"/>
                </a:solidFill>
                <a:latin typeface="DejaVu Sans"/>
              </a:rPr>
              <a:t>End-to-end solver</a:t>
            </a:r>
          </a:p>
        </p:txBody>
      </p:sp>
      <p:sp>
        <p:nvSpPr>
          <p:cNvPr id="10" name="TextBox 9"/>
          <p:cNvSpPr txBox="1"/>
          <p:nvPr/>
        </p:nvSpPr>
        <p:spPr>
          <a:xfrm>
            <a:off x="3566160" y="2587752"/>
            <a:ext cx="2194560" cy="457200"/>
          </a:xfrm>
          <a:prstGeom prst="rect">
            <a:avLst/>
          </a:prstGeom>
          <a:noFill/>
        </p:spPr>
        <p:txBody>
          <a:bodyPr wrap="square">
            <a:spAutoFit/>
          </a:bodyPr>
          <a:lstStyle/>
          <a:p>
            <a:pPr algn="l">
              <a:lnSpc>
                <a:spcPct val="115000"/>
              </a:lnSpc>
            </a:pPr>
            <a:r>
              <a:rPr sz="1100" b="0">
                <a:solidFill>
                  <a:srgbClr val="2A78D6"/>
                </a:solidFill>
                <a:latin typeface="DejaVu Sans"/>
              </a:rPr>
              <a:t>scripted</a:t>
            </a:r>
          </a:p>
        </p:txBody>
      </p:sp>
      <p:sp>
        <p:nvSpPr>
          <p:cNvPr id="11" name="TextBox 10"/>
          <p:cNvSpPr txBox="1"/>
          <p:nvPr/>
        </p:nvSpPr>
        <p:spPr>
          <a:xfrm>
            <a:off x="5852160" y="2587752"/>
            <a:ext cx="5577840" cy="548640"/>
          </a:xfrm>
          <a:prstGeom prst="rect">
            <a:avLst/>
          </a:prstGeom>
          <a:noFill/>
        </p:spPr>
        <p:txBody>
          <a:bodyPr wrap="square">
            <a:spAutoFit/>
          </a:bodyPr>
          <a:lstStyle/>
          <a:p>
            <a:pPr algn="l">
              <a:lnSpc>
                <a:spcPct val="115000"/>
              </a:lnSpc>
            </a:pPr>
            <a:r>
              <a:rPr sz="1100" b="0">
                <a:solidFill>
                  <a:srgbClr val="52514E"/>
                </a:solidFill>
                <a:latin typeface="DejaVu Sans"/>
              </a:rPr>
              <a:t>Full gated path exercised — 2 defects found</a:t>
            </a:r>
          </a:p>
        </p:txBody>
      </p:sp>
      <p:sp>
        <p:nvSpPr>
          <p:cNvPr id="12" name="Rounded Rectangle 11"/>
          <p:cNvSpPr/>
          <p:nvPr/>
        </p:nvSpPr>
        <p:spPr>
          <a:xfrm>
            <a:off x="548640" y="3337560"/>
            <a:ext cx="11064240" cy="749808"/>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429000"/>
            <a:ext cx="2743200" cy="548640"/>
          </a:xfrm>
          <a:prstGeom prst="rect">
            <a:avLst/>
          </a:prstGeom>
          <a:noFill/>
        </p:spPr>
        <p:txBody>
          <a:bodyPr wrap="square">
            <a:spAutoFit/>
          </a:bodyPr>
          <a:lstStyle/>
          <a:p>
            <a:pPr algn="l">
              <a:lnSpc>
                <a:spcPct val="115000"/>
              </a:lnSpc>
            </a:pPr>
            <a:r>
              <a:rPr sz="1300" b="1">
                <a:solidFill>
                  <a:srgbClr val="0B0B0B"/>
                </a:solidFill>
                <a:latin typeface="DejaVu Sans"/>
              </a:rPr>
              <a:t>Live MLE-solver phase</a:t>
            </a:r>
          </a:p>
        </p:txBody>
      </p:sp>
      <p:sp>
        <p:nvSpPr>
          <p:cNvPr id="14" name="TextBox 13"/>
          <p:cNvSpPr txBox="1"/>
          <p:nvPr/>
        </p:nvSpPr>
        <p:spPr>
          <a:xfrm>
            <a:off x="3566160" y="3456432"/>
            <a:ext cx="2194560" cy="457200"/>
          </a:xfrm>
          <a:prstGeom prst="rect">
            <a:avLst/>
          </a:prstGeom>
          <a:noFill/>
        </p:spPr>
        <p:txBody>
          <a:bodyPr wrap="square">
            <a:spAutoFit/>
          </a:bodyPr>
          <a:lstStyle/>
          <a:p>
            <a:pPr algn="l">
              <a:lnSpc>
                <a:spcPct val="115000"/>
              </a:lnSpc>
            </a:pPr>
            <a:r>
              <a:rPr sz="1100" b="0">
                <a:solidFill>
                  <a:srgbClr val="2A78D6"/>
                </a:solidFill>
                <a:latin typeface="DejaVu Sans"/>
              </a:rPr>
              <a:t>gemini-3.5-flash</a:t>
            </a:r>
          </a:p>
        </p:txBody>
      </p:sp>
      <p:sp>
        <p:nvSpPr>
          <p:cNvPr id="15" name="TextBox 14"/>
          <p:cNvSpPr txBox="1"/>
          <p:nvPr/>
        </p:nvSpPr>
        <p:spPr>
          <a:xfrm>
            <a:off x="5852160" y="3456432"/>
            <a:ext cx="5577840" cy="548640"/>
          </a:xfrm>
          <a:prstGeom prst="rect">
            <a:avLst/>
          </a:prstGeom>
          <a:noFill/>
        </p:spPr>
        <p:txBody>
          <a:bodyPr wrap="square">
            <a:spAutoFit/>
          </a:bodyPr>
          <a:lstStyle/>
          <a:p>
            <a:pPr algn="l">
              <a:lnSpc>
                <a:spcPct val="115000"/>
              </a:lnSpc>
            </a:pPr>
            <a:r>
              <a:rPr sz="1100" b="0">
                <a:solidFill>
                  <a:srgbClr val="52514E"/>
                </a:solidFill>
                <a:latin typeface="DejaVu Sans"/>
              </a:rPr>
              <a:t>415s, 5 executions; caught a real NameError, engineer recovered — 2 defects</a:t>
            </a:r>
          </a:p>
        </p:txBody>
      </p:sp>
      <p:sp>
        <p:nvSpPr>
          <p:cNvPr id="16" name="Rounded Rectangle 15"/>
          <p:cNvSpPr/>
          <p:nvPr/>
        </p:nvSpPr>
        <p:spPr>
          <a:xfrm>
            <a:off x="548640" y="4206240"/>
            <a:ext cx="11064240" cy="749808"/>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97680"/>
            <a:ext cx="2743200" cy="548640"/>
          </a:xfrm>
          <a:prstGeom prst="rect">
            <a:avLst/>
          </a:prstGeom>
          <a:noFill/>
        </p:spPr>
        <p:txBody>
          <a:bodyPr wrap="square">
            <a:spAutoFit/>
          </a:bodyPr>
          <a:lstStyle/>
          <a:p>
            <a:pPr algn="l">
              <a:lnSpc>
                <a:spcPct val="115000"/>
              </a:lnSpc>
            </a:pPr>
            <a:r>
              <a:rPr sz="1300" b="1">
                <a:solidFill>
                  <a:srgbClr val="0B0B0B"/>
                </a:solidFill>
                <a:latin typeface="DejaVu Sans"/>
              </a:rPr>
              <a:t>Live ablation</a:t>
            </a:r>
          </a:p>
        </p:txBody>
      </p:sp>
      <p:sp>
        <p:nvSpPr>
          <p:cNvPr id="18" name="TextBox 17"/>
          <p:cNvSpPr txBox="1"/>
          <p:nvPr/>
        </p:nvSpPr>
        <p:spPr>
          <a:xfrm>
            <a:off x="3566160" y="4325112"/>
            <a:ext cx="2194560" cy="457200"/>
          </a:xfrm>
          <a:prstGeom prst="rect">
            <a:avLst/>
          </a:prstGeom>
          <a:noFill/>
        </p:spPr>
        <p:txBody>
          <a:bodyPr wrap="square">
            <a:spAutoFit/>
          </a:bodyPr>
          <a:lstStyle/>
          <a:p>
            <a:pPr algn="l">
              <a:lnSpc>
                <a:spcPct val="115000"/>
              </a:lnSpc>
            </a:pPr>
            <a:r>
              <a:rPr sz="1100" b="0">
                <a:solidFill>
                  <a:srgbClr val="2A78D6"/>
                </a:solidFill>
                <a:latin typeface="DejaVu Sans"/>
              </a:rPr>
              <a:t>qwen3:8b local</a:t>
            </a:r>
          </a:p>
        </p:txBody>
      </p:sp>
      <p:sp>
        <p:nvSpPr>
          <p:cNvPr id="19" name="TextBox 18"/>
          <p:cNvSpPr txBox="1"/>
          <p:nvPr/>
        </p:nvSpPr>
        <p:spPr>
          <a:xfrm>
            <a:off x="5852160" y="4325112"/>
            <a:ext cx="5577840" cy="548640"/>
          </a:xfrm>
          <a:prstGeom prst="rect">
            <a:avLst/>
          </a:prstGeom>
          <a:noFill/>
        </p:spPr>
        <p:txBody>
          <a:bodyPr wrap="square">
            <a:spAutoFit/>
          </a:bodyPr>
          <a:lstStyle/>
          <a:p>
            <a:pPr algn="l">
              <a:lnSpc>
                <a:spcPct val="115000"/>
              </a:lnSpc>
            </a:pPr>
            <a:r>
              <a:rPr sz="1100" b="0">
                <a:solidFill>
                  <a:srgbClr val="52514E"/>
                </a:solidFill>
                <a:latin typeface="DejaVu Sans"/>
              </a:rPr>
              <a:t>658s; gate on converged in 2 turns, gate off never converged in 3 — 2 defects</a:t>
            </a:r>
          </a:p>
        </p:txBody>
      </p:sp>
      <p:sp>
        <p:nvSpPr>
          <p:cNvPr id="20" name="Rounded Rectangle 19"/>
          <p:cNvSpPr/>
          <p:nvPr/>
        </p:nvSpPr>
        <p:spPr>
          <a:xfrm>
            <a:off x="548640" y="5074920"/>
            <a:ext cx="11064240" cy="749808"/>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166360"/>
            <a:ext cx="2743200" cy="548640"/>
          </a:xfrm>
          <a:prstGeom prst="rect">
            <a:avLst/>
          </a:prstGeom>
          <a:noFill/>
        </p:spPr>
        <p:txBody>
          <a:bodyPr wrap="square">
            <a:spAutoFit/>
          </a:bodyPr>
          <a:lstStyle/>
          <a:p>
            <a:pPr algn="l">
              <a:lnSpc>
                <a:spcPct val="115000"/>
              </a:lnSpc>
            </a:pPr>
            <a:r>
              <a:rPr sz="1300" b="1">
                <a:solidFill>
                  <a:srgbClr val="0B0B0B"/>
                </a:solidFill>
                <a:latin typeface="DejaVu Sans"/>
              </a:rPr>
              <a:t>Corpus benchmark</a:t>
            </a:r>
          </a:p>
        </p:txBody>
      </p:sp>
      <p:sp>
        <p:nvSpPr>
          <p:cNvPr id="22" name="TextBox 21"/>
          <p:cNvSpPr txBox="1"/>
          <p:nvPr/>
        </p:nvSpPr>
        <p:spPr>
          <a:xfrm>
            <a:off x="3566160" y="5193792"/>
            <a:ext cx="2194560" cy="457200"/>
          </a:xfrm>
          <a:prstGeom prst="rect">
            <a:avLst/>
          </a:prstGeom>
          <a:noFill/>
        </p:spPr>
        <p:txBody>
          <a:bodyPr wrap="square">
            <a:spAutoFit/>
          </a:bodyPr>
          <a:lstStyle/>
          <a:p>
            <a:pPr algn="l">
              <a:lnSpc>
                <a:spcPct val="115000"/>
              </a:lnSpc>
            </a:pPr>
            <a:r>
              <a:rPr sz="1100" b="0">
                <a:solidFill>
                  <a:srgbClr val="2A78D6"/>
                </a:solidFill>
                <a:latin typeface="DejaVu Sans"/>
              </a:rPr>
              <a:t>qwen3:8b local</a:t>
            </a:r>
          </a:p>
        </p:txBody>
      </p:sp>
      <p:sp>
        <p:nvSpPr>
          <p:cNvPr id="23" name="TextBox 22"/>
          <p:cNvSpPr txBox="1"/>
          <p:nvPr/>
        </p:nvSpPr>
        <p:spPr>
          <a:xfrm>
            <a:off x="5852160" y="5193792"/>
            <a:ext cx="5577840" cy="548640"/>
          </a:xfrm>
          <a:prstGeom prst="rect">
            <a:avLst/>
          </a:prstGeom>
          <a:noFill/>
        </p:spPr>
        <p:txBody>
          <a:bodyPr wrap="square">
            <a:spAutoFit/>
          </a:bodyPr>
          <a:lstStyle/>
          <a:p>
            <a:pPr algn="l">
              <a:lnSpc>
                <a:spcPct val="115000"/>
              </a:lnSpc>
            </a:pPr>
            <a:r>
              <a:rPr sz="1100" b="0">
                <a:solidFill>
                  <a:srgbClr val="52514E"/>
                </a:solidFill>
                <a:latin typeface="DejaVu Sans"/>
              </a:rPr>
              <a:t>68 labelled lines × 2 prompt variants</a:t>
            </a:r>
          </a:p>
        </p:txBody>
      </p:sp>
      <p:sp>
        <p:nvSpPr>
          <p:cNvPr id="24" name="TextBox 23"/>
          <p:cNvSpPr txBox="1"/>
          <p:nvPr/>
        </p:nvSpPr>
        <p:spPr>
          <a:xfrm>
            <a:off x="548640" y="6126480"/>
            <a:ext cx="11064240" cy="548640"/>
          </a:xfrm>
          <a:prstGeom prst="rect">
            <a:avLst/>
          </a:prstGeom>
          <a:noFill/>
        </p:spPr>
        <p:txBody>
          <a:bodyPr wrap="square">
            <a:spAutoFit/>
          </a:bodyPr>
          <a:lstStyle/>
          <a:p>
            <a:pPr algn="l">
              <a:lnSpc>
                <a:spcPct val="115000"/>
              </a:lnSpc>
            </a:pPr>
            <a:r>
              <a:rPr sz="1200" b="1">
                <a:solidFill>
                  <a:srgbClr val="EB6834"/>
                </a:solidFill>
                <a:latin typeface="DejaVu Sans"/>
              </a:rPr>
              <a:t>Four defects appeared only against a real model — and two of those only against the weaker one, which is the argument for testing on both.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IMPACT</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What the writing agent receives instead</a:t>
            </a:r>
          </a:p>
        </p:txBody>
      </p:sp>
      <p:sp>
        <p:nvSpPr>
          <p:cNvPr id="4" name="Rounded Rectangle 3"/>
          <p:cNvSpPr/>
          <p:nvPr/>
        </p:nvSpPr>
        <p:spPr>
          <a:xfrm>
            <a:off x="548640" y="1554480"/>
            <a:ext cx="5394960" cy="393192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4937760" cy="3566160"/>
          </a:xfrm>
          <a:prstGeom prst="rect">
            <a:avLst/>
          </a:prstGeom>
          <a:noFill/>
        </p:spPr>
        <p:txBody>
          <a:bodyPr wrap="square">
            <a:spAutoFit/>
          </a:bodyPr>
          <a:lstStyle/>
          <a:p>
            <a:pPr algn="l">
              <a:lnSpc>
                <a:spcPct val="115000"/>
              </a:lnSpc>
            </a:pPr>
            <a:r>
              <a:rPr sz="1300" b="1">
                <a:solidFill>
                  <a:srgbClr val="EB6834"/>
                </a:solidFill>
                <a:latin typeface="DejaVu Sans"/>
              </a:rPr>
              <a:t>BEFORE</a:t>
            </a:r>
          </a:p>
          <a:p>
            <a:pPr algn="l">
              <a:lnSpc>
                <a:spcPct val="115000"/>
              </a:lnSpc>
            </a:pPr>
            <a:r>
              <a:rPr sz="1200" b="0">
                <a:solidFill>
                  <a:srgbClr val="52514E"/>
                </a:solidFill>
                <a:latin typeface="DejaVu Sans"/>
              </a:rPr>
              <a:t>1,000 characters of stdout, prefix-sliced, with the crash marker already fallen off the end.</a:t>
            </a:r>
          </a:p>
          <a:p>
            <a:pPr algn="l">
              <a:lnSpc>
                <a:spcPct val="115000"/>
              </a:lnSpc>
            </a:pPr>
            <a:r>
              <a:rPr sz="800" b="0">
                <a:solidFill>
                  <a:srgbClr val="52514E"/>
                </a:solidFill>
                <a:latin typeface="DejaVu Sans"/>
              </a:rPr>
              <a:t/>
            </a:r>
          </a:p>
          <a:p>
            <a:pPr algn="l">
              <a:lnSpc>
                <a:spcPct val="115000"/>
              </a:lnSpc>
            </a:pPr>
            <a:r>
              <a:rPr sz="1200" b="0">
                <a:solidFill>
                  <a:srgbClr val="52514E"/>
                </a:solidFill>
                <a:latin typeface="DejaVu Sans"/>
              </a:rPr>
              <a:t>No way to tell a measured number from an invented one.</a:t>
            </a:r>
          </a:p>
          <a:p>
            <a:pPr algn="l">
              <a:lnSpc>
                <a:spcPct val="115000"/>
              </a:lnSpc>
            </a:pPr>
            <a:r>
              <a:rPr sz="800" b="0">
                <a:solidFill>
                  <a:srgbClr val="52514E"/>
                </a:solidFill>
                <a:latin typeface="DejaVu Sans"/>
              </a:rPr>
              <a:t/>
            </a:r>
          </a:p>
          <a:p>
            <a:pPr algn="l">
              <a:lnSpc>
                <a:spcPct val="115000"/>
              </a:lnSpc>
            </a:pPr>
            <a:r>
              <a:rPr sz="1200" b="0">
                <a:solidFill>
                  <a:srgbClr val="52514E"/>
                </a:solidFill>
                <a:latin typeface="DejaVu Sans"/>
              </a:rPr>
              <a:t>A crashed run reaching the writer scored 1.0.</a:t>
            </a:r>
          </a:p>
        </p:txBody>
      </p:sp>
      <p:sp>
        <p:nvSpPr>
          <p:cNvPr id="6" name="Rounded Rectangle 5"/>
          <p:cNvSpPr/>
          <p:nvPr/>
        </p:nvSpPr>
        <p:spPr>
          <a:xfrm>
            <a:off x="6217920" y="1554480"/>
            <a:ext cx="5394960" cy="393192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937760" cy="3566160"/>
          </a:xfrm>
          <a:prstGeom prst="rect">
            <a:avLst/>
          </a:prstGeom>
          <a:noFill/>
        </p:spPr>
        <p:txBody>
          <a:bodyPr wrap="square">
            <a:spAutoFit/>
          </a:bodyPr>
          <a:lstStyle/>
          <a:p>
            <a:pPr algn="l">
              <a:lnSpc>
                <a:spcPct val="115000"/>
              </a:lnSpc>
            </a:pPr>
            <a:r>
              <a:rPr sz="1300" b="1">
                <a:solidFill>
                  <a:srgbClr val="2A78D6"/>
                </a:solidFill>
                <a:latin typeface="DejaVu Sans"/>
              </a:rPr>
              <a:t>AFTER</a:t>
            </a:r>
          </a:p>
          <a:p>
            <a:pPr algn="l">
              <a:lnSpc>
                <a:spcPct val="115000"/>
              </a:lnSpc>
            </a:pPr>
            <a:r>
              <a:rPr sz="1200" b="0">
                <a:solidFill>
                  <a:srgbClr val="52514E"/>
                </a:solidFill>
                <a:latin typeface="DejaVu Sans"/>
              </a:rPr>
              <a:t>A verified registry: typed values, trace ids, provenance chains, run metadata, and the full untruncated capture on disk.</a:t>
            </a:r>
          </a:p>
          <a:p>
            <a:pPr algn="l">
              <a:lnSpc>
                <a:spcPct val="115000"/>
              </a:lnSpc>
            </a:pPr>
            <a:r>
              <a:rPr sz="800" b="0">
                <a:solidFill>
                  <a:srgbClr val="52514E"/>
                </a:solidFill>
                <a:latin typeface="DejaVu Sans"/>
              </a:rPr>
              <a:t/>
            </a:r>
          </a:p>
          <a:p>
            <a:pPr algn="l">
              <a:lnSpc>
                <a:spcPct val="115000"/>
              </a:lnSpc>
            </a:pPr>
            <a:r>
              <a:rPr sz="1200" b="0">
                <a:solidFill>
                  <a:srgbClr val="52514E"/>
                </a:solidFill>
                <a:latin typeface="DejaVu Sans"/>
              </a:rPr>
              <a:t>results.values_computed rejects any value that is a source literal at its call site.</a:t>
            </a:r>
          </a:p>
          <a:p>
            <a:pPr algn="l">
              <a:lnSpc>
                <a:spcPct val="115000"/>
              </a:lnSpc>
            </a:pPr>
            <a:r>
              <a:rPr sz="800" b="0">
                <a:solidFill>
                  <a:srgbClr val="52514E"/>
                </a:solidFill>
                <a:latin typeface="DejaVu Sans"/>
              </a:rPr>
              <a:t/>
            </a:r>
          </a:p>
          <a:p>
            <a:pPr algn="l">
              <a:lnSpc>
                <a:spcPct val="115000"/>
              </a:lnSpc>
            </a:pPr>
            <a:r>
              <a:rPr sz="1200" b="0">
                <a:solidFill>
                  <a:srgbClr val="52514E"/>
                </a:solidFill>
                <a:latin typeface="DejaVu Sans"/>
              </a:rPr>
              <a:t>A run that never passed cannot reach the writer at all — GateFailure ends the phase.</a:t>
            </a:r>
          </a:p>
        </p:txBody>
      </p:sp>
      <p:sp>
        <p:nvSpPr>
          <p:cNvPr id="8" name="TextBox 7"/>
          <p:cNvSpPr txBox="1"/>
          <p:nvPr/>
        </p:nvSpPr>
        <p:spPr>
          <a:xfrm>
            <a:off x="548640" y="5760720"/>
            <a:ext cx="11064240" cy="731520"/>
          </a:xfrm>
          <a:prstGeom prst="rect">
            <a:avLst/>
          </a:prstGeom>
          <a:noFill/>
        </p:spPr>
        <p:txBody>
          <a:bodyPr wrap="square">
            <a:spAutoFit/>
          </a:bodyPr>
          <a:lstStyle/>
          <a:p>
            <a:pPr algn="l">
              <a:lnSpc>
                <a:spcPct val="115000"/>
              </a:lnSpc>
            </a:pPr>
            <a:r>
              <a:rPr sz="1200" b="0">
                <a:solidFill>
                  <a:srgbClr val="52514E"/>
                </a:solidFill>
                <a:latin typeface="DejaVu Sans"/>
              </a:rPr>
              <a:t>Every WARN travels with the evidence under a heading saying it must be stated rather than omitted — and carries its line and reason, not just a count.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ABLATION</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Gate on versus gate off — same task, model and engineer</a:t>
            </a:r>
          </a:p>
        </p:txBody>
      </p:sp>
      <p:pic>
        <p:nvPicPr>
          <p:cNvPr id="4" name="Picture 3" descr="ablation.png"/>
          <p:cNvPicPr>
            <a:picLocks noChangeAspect="1"/>
          </p:cNvPicPr>
          <p:nvPr/>
        </p:nvPicPr>
        <p:blipFill>
          <a:blip r:embed="rId2"/>
          <a:stretch>
            <a:fillRect/>
          </a:stretch>
        </p:blipFill>
        <p:spPr>
          <a:xfrm>
            <a:off x="548640" y="1554480"/>
            <a:ext cx="6673099" cy="3840480"/>
          </a:xfrm>
          <a:prstGeom prst="rect">
            <a:avLst/>
          </a:prstGeom>
        </p:spPr>
      </p:pic>
      <p:sp>
        <p:nvSpPr>
          <p:cNvPr id="5" name="Rounded Rectangle 4"/>
          <p:cNvSpPr/>
          <p:nvPr/>
        </p:nvSpPr>
        <p:spPr>
          <a:xfrm>
            <a:off x="7498079" y="1554480"/>
            <a:ext cx="4114800" cy="402336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737360"/>
            <a:ext cx="3657600" cy="3657600"/>
          </a:xfrm>
          <a:prstGeom prst="rect">
            <a:avLst/>
          </a:prstGeom>
          <a:noFill/>
        </p:spPr>
        <p:txBody>
          <a:bodyPr wrap="square">
            <a:spAutoFit/>
          </a:bodyPr>
          <a:lstStyle/>
          <a:p>
            <a:pPr algn="l">
              <a:lnSpc>
                <a:spcPct val="115000"/>
              </a:lnSpc>
            </a:pPr>
            <a:r>
              <a:rPr sz="1600" b="1">
                <a:solidFill>
                  <a:srgbClr val="0B0B0B"/>
                </a:solidFill>
                <a:latin typeface="DejaVu Sans"/>
              </a:rPr>
              <a:t>false_success = 0</a:t>
            </a:r>
          </a:p>
          <a:p>
            <a:pPr algn="l">
              <a:lnSpc>
                <a:spcPct val="115000"/>
              </a:lnSpc>
            </a:pPr>
            <a:r>
              <a:rPr sz="1100" b="0">
                <a:solidFill>
                  <a:srgbClr val="52514E"/>
                </a:solidFill>
                <a:latin typeface="DejaVu Sans"/>
              </a:rPr>
              <a:t>The divergence did not reproduce here. Every ungated failure crashed with zero bytes of stdout, so the marker stayed inside the slice and upstream's rule caught them all.</a:t>
            </a:r>
          </a:p>
          <a:p>
            <a:pPr algn="l">
              <a:lnSpc>
                <a:spcPct val="115000"/>
              </a:lnSpc>
            </a:pPr>
            <a:r>
              <a:rPr sz="800" b="0">
                <a:solidFill>
                  <a:srgbClr val="52514E"/>
                </a:solidFill>
                <a:latin typeface="DejaVu Sans"/>
              </a:rPr>
              <a:t/>
            </a:r>
          </a:p>
          <a:p>
            <a:pPr algn="l">
              <a:lnSpc>
                <a:spcPct val="115000"/>
              </a:lnSpc>
            </a:pPr>
            <a:r>
              <a:rPr sz="1100" b="0">
                <a:solidFill>
                  <a:srgbClr val="52514E"/>
                </a:solidFill>
                <a:latin typeface="DejaVu Sans"/>
              </a:rPr>
              <a:t>That is the honest shape of the claim: the channel defect needs an experiment that prints past the ceiling before it dies.</a:t>
            </a:r>
          </a:p>
          <a:p>
            <a:pPr algn="l">
              <a:lnSpc>
                <a:spcPct val="115000"/>
              </a:lnSpc>
            </a:pPr>
            <a:r>
              <a:rPr sz="800" b="0">
                <a:solidFill>
                  <a:srgbClr val="52514E"/>
                </a:solidFill>
                <a:latin typeface="DejaVu Sans"/>
              </a:rPr>
              <a:t/>
            </a:r>
          </a:p>
          <a:p>
            <a:pPr algn="l">
              <a:lnSpc>
                <a:spcPct val="115000"/>
              </a:lnSpc>
            </a:pPr>
            <a:r>
              <a:rPr sz="1100" b="0">
                <a:solidFill>
                  <a:srgbClr val="52514E"/>
                </a:solidFill>
                <a:latin typeface="DejaVu Sans"/>
              </a:rPr>
              <a:t>What did differ: the gated engineer got a report naming the failing check and fixed it; the ungated one got 1,000 raw characters and failed three times.</a:t>
            </a:r>
          </a:p>
          <a:p>
            <a:pPr algn="l">
              <a:lnSpc>
                <a:spcPct val="115000"/>
              </a:lnSpc>
            </a:pPr>
            <a:r>
              <a:rPr sz="800" b="0">
                <a:solidFill>
                  <a:srgbClr val="52514E"/>
                </a:solidFill>
                <a:latin typeface="DejaVu Sans"/>
              </a:rPr>
              <a:t/>
            </a:r>
          </a:p>
          <a:p>
            <a:pPr algn="l">
              <a:lnSpc>
                <a:spcPct val="115000"/>
              </a:lnSpc>
            </a:pPr>
            <a:r>
              <a:rPr sz="1100" b="1">
                <a:solidFill>
                  <a:srgbClr val="EB6834"/>
                </a:solidFill>
                <a:latin typeface="DejaVu Sans"/>
              </a:rPr>
              <a:t>n = 1, temperature 0. Suggestive, not a rate.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COST</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A third of the calls, a sixth of the tokens</a:t>
            </a:r>
          </a:p>
        </p:txBody>
      </p:sp>
      <p:pic>
        <p:nvPicPr>
          <p:cNvPr id="4" name="Picture 3" descr="callsplit.png"/>
          <p:cNvPicPr>
            <a:picLocks noChangeAspect="1"/>
          </p:cNvPicPr>
          <p:nvPr/>
        </p:nvPicPr>
        <p:blipFill>
          <a:blip r:embed="rId2"/>
          <a:stretch>
            <a:fillRect/>
          </a:stretch>
        </p:blipFill>
        <p:spPr>
          <a:xfrm>
            <a:off x="548640" y="1554480"/>
            <a:ext cx="6949440" cy="3326967"/>
          </a:xfrm>
          <a:prstGeom prst="rect">
            <a:avLst/>
          </a:prstGeom>
        </p:spPr>
      </p:pic>
      <p:sp>
        <p:nvSpPr>
          <p:cNvPr id="5" name="Rounded Rectangle 4"/>
          <p:cNvSpPr/>
          <p:nvPr/>
        </p:nvSpPr>
        <p:spPr>
          <a:xfrm>
            <a:off x="7772400" y="1554480"/>
            <a:ext cx="3840480" cy="393192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737360"/>
            <a:ext cx="3383280" cy="3566160"/>
          </a:xfrm>
          <a:prstGeom prst="rect">
            <a:avLst/>
          </a:prstGeom>
          <a:noFill/>
        </p:spPr>
        <p:txBody>
          <a:bodyPr wrap="square">
            <a:spAutoFit/>
          </a:bodyPr>
          <a:lstStyle/>
          <a:p>
            <a:pPr algn="l">
              <a:lnSpc>
                <a:spcPct val="115000"/>
              </a:lnSpc>
            </a:pPr>
            <a:r>
              <a:rPr sz="1400" b="1">
                <a:solidFill>
                  <a:srgbClr val="0B0B0B"/>
                </a:solidFill>
                <a:latin typeface="DejaVu Sans"/>
              </a:rPr>
              <a:t>Which is why it can run locally</a:t>
            </a:r>
          </a:p>
          <a:p>
            <a:pPr algn="l">
              <a:lnSpc>
                <a:spcPct val="115000"/>
              </a:lnSpc>
            </a:pPr>
            <a:r>
              <a:rPr sz="1100" b="0">
                <a:solidFill>
                  <a:srgbClr val="52514E"/>
                </a:solidFill>
                <a:latin typeface="DejaVu Sans"/>
              </a:rPr>
              <a:t>qwen3:8b on an 8 GB laptop GPU — 5.5 GB resident, ~16s a call, zero marginal cost, no quota.</a:t>
            </a:r>
          </a:p>
          <a:p>
            <a:pPr algn="l">
              <a:lnSpc>
                <a:spcPct val="115000"/>
              </a:lnSpc>
            </a:pPr>
            <a:r>
              <a:rPr sz="800" b="0">
                <a:solidFill>
                  <a:srgbClr val="52514E"/>
                </a:solidFill>
                <a:latin typeface="DejaVu Sans"/>
              </a:rPr>
              <a:t/>
            </a:r>
          </a:p>
          <a:p>
            <a:pPr algn="l">
              <a:lnSpc>
                <a:spcPct val="115000"/>
              </a:lnSpc>
            </a:pPr>
            <a:r>
              <a:rPr sz="1100" b="0">
                <a:solidFill>
                  <a:srgbClr val="52514E"/>
                </a:solidFill>
                <a:latin typeface="DejaVu Sans"/>
              </a:rPr>
              <a:t>The gate's prompts stay small because the digest collapses repetition; the engineer's do not, because they carry code, history and the evidence bundle.</a:t>
            </a:r>
          </a:p>
          <a:p>
            <a:pPr algn="l">
              <a:lnSpc>
                <a:spcPct val="115000"/>
              </a:lnSpc>
            </a:pPr>
            <a:r>
              <a:rPr sz="800" b="0">
                <a:solidFill>
                  <a:srgbClr val="52514E"/>
                </a:solidFill>
                <a:latin typeface="DejaVu Sans"/>
              </a:rPr>
              <a:t/>
            </a:r>
          </a:p>
          <a:p>
            <a:pPr algn="l">
              <a:lnSpc>
                <a:spcPct val="115000"/>
              </a:lnSpc>
            </a:pPr>
            <a:r>
              <a:rPr sz="1100" b="0">
                <a:solidFill>
                  <a:srgbClr val="EB6834"/>
                </a:solidFill>
                <a:latin typeface="DejaVu Sans"/>
              </a:rPr>
              <a:t>Putting the ENGINEER on a weak model is the tempting economy and the wrong one: it fails the gate more often, and each rejection costs a fixes call, a shadow-reward call and another turn.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THE LANDSCAPE</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What the published benchmarks measure</a:t>
            </a:r>
          </a:p>
        </p:txBody>
      </p:sp>
      <p:pic>
        <p:nvPicPr>
          <p:cNvPr id="4" name="Picture 3" descr="literature.png"/>
          <p:cNvPicPr>
            <a:picLocks noChangeAspect="1"/>
          </p:cNvPicPr>
          <p:nvPr/>
        </p:nvPicPr>
        <p:blipFill>
          <a:blip r:embed="rId2"/>
          <a:stretch>
            <a:fillRect/>
          </a:stretch>
        </p:blipFill>
        <p:spPr>
          <a:xfrm>
            <a:off x="548640" y="1508760"/>
            <a:ext cx="6858000" cy="3282718"/>
          </a:xfrm>
          <a:prstGeom prst="rect">
            <a:avLst/>
          </a:prstGeom>
        </p:spPr>
      </p:pic>
      <p:sp>
        <p:nvSpPr>
          <p:cNvPr id="5" name="Rounded Rectangle 4"/>
          <p:cNvSpPr/>
          <p:nvPr/>
        </p:nvSpPr>
        <p:spPr>
          <a:xfrm>
            <a:off x="7680960" y="1508760"/>
            <a:ext cx="3931920" cy="4206240"/>
          </a:xfrm>
          <a:prstGeom prst="roundRect">
            <a:avLst/>
          </a:prstGeom>
          <a:solidFill>
            <a:srgbClr val="F4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691640"/>
            <a:ext cx="3474720" cy="3840480"/>
          </a:xfrm>
          <a:prstGeom prst="rect">
            <a:avLst/>
          </a:prstGeom>
          <a:noFill/>
        </p:spPr>
        <p:txBody>
          <a:bodyPr wrap="square">
            <a:spAutoFit/>
          </a:bodyPr>
          <a:lstStyle/>
          <a:p>
            <a:pPr algn="l">
              <a:lnSpc>
                <a:spcPct val="115000"/>
              </a:lnSpc>
            </a:pPr>
            <a:r>
              <a:rPr sz="1400" b="1">
                <a:solidFill>
                  <a:srgbClr val="0B0B0B"/>
                </a:solidFill>
                <a:latin typeface="DejaVu Sans"/>
              </a:rPr>
              <a:t>Why the verdict consults no model</a:t>
            </a:r>
          </a:p>
          <a:p>
            <a:pPr algn="l">
              <a:lnSpc>
                <a:spcPct val="115000"/>
              </a:lnSpc>
            </a:pPr>
            <a:r>
              <a:rPr sz="1100" b="0">
                <a:solidFill>
                  <a:srgbClr val="52514E"/>
                </a:solidFill>
                <a:latin typeface="DejaVu Sans"/>
              </a:rPr>
              <a:t>BadScientist: fabricated papers accepted at up to 82.0%, with detection accuracy barely above random chance.</a:t>
            </a:r>
          </a:p>
          <a:p>
            <a:pPr algn="l">
              <a:lnSpc>
                <a:spcPct val="115000"/>
              </a:lnSpc>
            </a:pPr>
            <a:r>
              <a:rPr sz="800" b="0">
                <a:solidFill>
                  <a:srgbClr val="52514E"/>
                </a:solidFill>
                <a:latin typeface="DejaVu Sans"/>
              </a:rPr>
              <a:t/>
            </a:r>
          </a:p>
          <a:p>
            <a:pPr algn="l">
              <a:lnSpc>
                <a:spcPct val="115000"/>
              </a:lnSpc>
            </a:pPr>
            <a:r>
              <a:rPr sz="1100" b="0">
                <a:solidFill>
                  <a:srgbClr val="52514E"/>
                </a:solidFill>
                <a:latin typeface="DejaVu Sans"/>
              </a:rPr>
              <a:t>If LLM reviewers detect fabrication at chance, a validity layer built on model judgement inherits that ceiling. Gate 1's verdict is therefore entirely deterministic.</a:t>
            </a:r>
          </a:p>
          <a:p>
            <a:pPr algn="l">
              <a:lnSpc>
                <a:spcPct val="115000"/>
              </a:lnSpc>
            </a:pPr>
            <a:r>
              <a:rPr sz="800" b="0">
                <a:solidFill>
                  <a:srgbClr val="52514E"/>
                </a:solidFill>
                <a:latin typeface="DejaVu Sans"/>
              </a:rPr>
              <a:t/>
            </a:r>
          </a:p>
          <a:p>
            <a:pPr algn="l">
              <a:lnSpc>
                <a:spcPct val="115000"/>
              </a:lnSpc>
            </a:pPr>
            <a:r>
              <a:rPr sz="1100" b="0">
                <a:solidFill>
                  <a:srgbClr val="52514E"/>
                </a:solidFill>
                <a:latin typeface="DejaVu Sans"/>
              </a:rPr>
              <a:t>MLR-Bench: faked experimental results is the most prevalent hallucination class — present in almost every AI Scientist V2 paper. That is the class Gate 1 addresses, upstream of every reviewed approach.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LIMITS</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What Gate 1 does not claim</a:t>
            </a:r>
          </a:p>
        </p:txBody>
      </p:sp>
      <p:sp>
        <p:nvSpPr>
          <p:cNvPr id="4" name="TextBox 3"/>
          <p:cNvSpPr txBox="1"/>
          <p:nvPr/>
        </p:nvSpPr>
        <p:spPr>
          <a:xfrm>
            <a:off x="548640" y="1645920"/>
            <a:ext cx="11064240" cy="3657600"/>
          </a:xfrm>
          <a:prstGeom prst="rect">
            <a:avLst/>
          </a:prstGeom>
          <a:noFill/>
        </p:spPr>
        <p:txBody>
          <a:bodyPr wrap="square">
            <a:spAutoFit/>
          </a:bodyPr>
          <a:lstStyle/>
          <a:p>
            <a:pPr algn="l">
              <a:lnSpc>
                <a:spcPct val="200000"/>
              </a:lnSpc>
            </a:pPr>
            <a:r>
              <a:rPr sz="1400" b="0">
                <a:solidFill>
                  <a:srgbClr val="52514E"/>
                </a:solidFill>
                <a:latin typeface="DejaVu Sans"/>
              </a:rPr>
              <a:t>·  It does not check whether a result is plausible — that is Gate 2</a:t>
            </a:r>
          </a:p>
          <a:p>
            <a:pPr algn="l">
              <a:lnSpc>
                <a:spcPct val="200000"/>
              </a:lnSpc>
            </a:pPr>
            <a:r>
              <a:rPr sz="1400" b="0">
                <a:solidFill>
                  <a:srgbClr val="52514E"/>
                </a:solidFill>
                <a:latin typeface="DejaVu Sans"/>
              </a:rPr>
              <a:t>·  It does not read the manuscript — that is Gate 3</a:t>
            </a:r>
          </a:p>
          <a:p>
            <a:pPr algn="l">
              <a:lnSpc>
                <a:spcPct val="200000"/>
              </a:lnSpc>
            </a:pPr>
            <a:r>
              <a:rPr sz="1400" b="0">
                <a:solidFill>
                  <a:srgbClr val="52514E"/>
                </a:solidFill>
                <a:latin typeface="DejaVu Sans"/>
              </a:rPr>
              <a:t>·  The static tier is conservative on purpose; the runtime tier catches what it declines to claim, one execution later</a:t>
            </a:r>
          </a:p>
          <a:p>
            <a:pPr algn="l">
              <a:lnSpc>
                <a:spcPct val="200000"/>
              </a:lnSpc>
            </a:pPr>
            <a:r>
              <a:rPr sz="1400" b="0">
                <a:solidFill>
                  <a:srgbClr val="52514E"/>
                </a:solidFill>
                <a:latin typeface="DejaVu Sans"/>
              </a:rPr>
              <a:t>·  The log scanner's recall is bounded by what it was shown, and the number of lines examined is recorded so the claim cannot exceed the evidence</a:t>
            </a:r>
          </a:p>
          <a:p>
            <a:pPr algn="l">
              <a:lnSpc>
                <a:spcPct val="200000"/>
              </a:lnSpc>
            </a:pPr>
            <a:r>
              <a:rPr sz="1400" b="0">
                <a:solidFill>
                  <a:srgbClr val="52514E"/>
                </a:solidFill>
                <a:latin typeface="DejaVu Sans"/>
              </a:rPr>
              <a:t>·  A mean computed inside the experiment over a silently shortened list arrives as one value Gate 1 cannot see behind (Gate 2's to close)</a:t>
            </a:r>
          </a:p>
          <a:p>
            <a:pPr algn="l">
              <a:lnSpc>
                <a:spcPct val="200000"/>
              </a:lnSpc>
            </a:pPr>
            <a:r>
              <a:rPr sz="1400" b="0">
                <a:solidFill>
                  <a:srgbClr val="52514E"/>
                </a:solidFill>
                <a:latin typeface="DejaVu Sans"/>
              </a:rPr>
              <a:t>·  n is still 1 for the archive comparison — the re-run has not been performed</a:t>
            </a:r>
          </a:p>
        </p:txBody>
      </p:sp>
      <p:sp>
        <p:nvSpPr>
          <p:cNvPr id="5" name="Rounded Rectangle 4"/>
          <p:cNvSpPr/>
          <p:nvPr/>
        </p:nvSpPr>
        <p:spPr>
          <a:xfrm>
            <a:off x="548640" y="5394960"/>
            <a:ext cx="11064240" cy="1005840"/>
          </a:xfrm>
          <a:prstGeom prst="roundRect">
            <a:avLst/>
          </a:prstGeom>
          <a:solidFill>
            <a:srgbClr val="FB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532120"/>
            <a:ext cx="10515600" cy="822960"/>
          </a:xfrm>
          <a:prstGeom prst="rect">
            <a:avLst/>
          </a:prstGeom>
          <a:noFill/>
        </p:spPr>
        <p:txBody>
          <a:bodyPr wrap="square">
            <a:spAutoFit/>
          </a:bodyPr>
          <a:lstStyle/>
          <a:p>
            <a:pPr algn="l">
              <a:lnSpc>
                <a:spcPct val="115000"/>
              </a:lnSpc>
            </a:pPr>
            <a:r>
              <a:rPr sz="1200" b="0">
                <a:solidFill>
                  <a:srgbClr val="52514E"/>
                </a:solidFill>
                <a:latin typeface="DejaVu Sans"/>
              </a:rPr>
              <a:t>The design documents paraphrase MLR-Bench's taxonomy. Its published names are faked experimental results, hallucinated methodology, incorrect citations, mathematical errors — any "eliminates N of four classes" claim should use those names or state the mapping.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lnSpc>
                <a:spcPct val="115000"/>
              </a:lnSpc>
            </a:pPr>
            <a:r>
              <a:rPr sz="1100" b="1">
                <a:solidFill>
                  <a:srgbClr val="2A78D6"/>
                </a:solidFill>
                <a:latin typeface="DejaVu Sans"/>
              </a:rPr>
              <a:t>NEXT</a:t>
            </a:r>
          </a:p>
        </p:txBody>
      </p:sp>
      <p:sp>
        <p:nvSpPr>
          <p:cNvPr id="3" name="TextBox 2"/>
          <p:cNvSpPr txBox="1"/>
          <p:nvPr/>
        </p:nvSpPr>
        <p:spPr>
          <a:xfrm>
            <a:off x="548640" y="658368"/>
            <a:ext cx="10972800" cy="640080"/>
          </a:xfrm>
          <a:prstGeom prst="rect">
            <a:avLst/>
          </a:prstGeom>
          <a:noFill/>
        </p:spPr>
        <p:txBody>
          <a:bodyPr wrap="square">
            <a:spAutoFit/>
          </a:bodyPr>
          <a:lstStyle/>
          <a:p>
            <a:pPr algn="l">
              <a:lnSpc>
                <a:spcPct val="115000"/>
              </a:lnSpc>
            </a:pPr>
            <a:r>
              <a:rPr sz="2600" b="1">
                <a:solidFill>
                  <a:srgbClr val="0B0B0B"/>
                </a:solidFill>
                <a:latin typeface="DejaVu Sans"/>
              </a:rPr>
              <a:t>Gate 1 is complete as an implementation</a:t>
            </a:r>
          </a:p>
        </p:txBody>
      </p:sp>
      <p:sp>
        <p:nvSpPr>
          <p:cNvPr id="4" name="TextBox 3"/>
          <p:cNvSpPr txBox="1"/>
          <p:nvPr/>
        </p:nvSpPr>
        <p:spPr>
          <a:xfrm>
            <a:off x="548640" y="1737360"/>
            <a:ext cx="11064240" cy="3657600"/>
          </a:xfrm>
          <a:prstGeom prst="rect">
            <a:avLst/>
          </a:prstGeom>
          <a:noFill/>
        </p:spPr>
        <p:txBody>
          <a:bodyPr wrap="square">
            <a:spAutoFit/>
          </a:bodyPr>
          <a:lstStyle/>
          <a:p>
            <a:pPr algn="l">
              <a:lnSpc>
                <a:spcPct val="150000"/>
              </a:lnSpc>
            </a:pPr>
            <a:r>
              <a:rPr sz="1600" b="1">
                <a:solidFill>
                  <a:srgbClr val="0B0B0B"/>
                </a:solidFill>
                <a:latin typeface="DejaVu Sans"/>
              </a:rPr>
              <a:t>Measurement, not code, is what remains</a:t>
            </a:r>
          </a:p>
          <a:p>
            <a:pPr algn="l">
              <a:lnSpc>
                <a:spcPct val="150000"/>
              </a:lnSpc>
            </a:pPr>
            <a:r>
              <a:rPr sz="1400" b="0">
                <a:solidFill>
                  <a:srgbClr val="52514E"/>
                </a:solidFill>
                <a:latin typeface="DejaVu Sans"/>
              </a:rPr>
              <a:t>·  Re-run the archive for a real n — both arms, needs a billed key and hand annotation</a:t>
            </a:r>
          </a:p>
          <a:p>
            <a:pPr algn="l">
              <a:lnSpc>
                <a:spcPct val="150000"/>
              </a:lnSpc>
            </a:pPr>
            <a:r>
              <a:rPr sz="1400" b="0">
                <a:solidFill>
                  <a:srgbClr val="52514E"/>
                </a:solidFill>
                <a:latin typeface="DejaVu Sans"/>
              </a:rPr>
              <a:t>·  Channel-fidelity writer arm at MAX_LEN ∈ {1000, 4000, 16000, ∞}</a:t>
            </a:r>
          </a:p>
          <a:p>
            <a:pPr algn="l">
              <a:lnSpc>
                <a:spcPct val="150000"/>
              </a:lnSpc>
            </a:pPr>
            <a:r>
              <a:rPr sz="1400" b="0">
                <a:solidFill>
                  <a:srgbClr val="52514E"/>
                </a:solidFill>
                <a:latin typeface="DejaVu Sans"/>
              </a:rPr>
              <a:t>·  Capture integrity: a missing log must fail loudly, not read as clean</a:t>
            </a:r>
          </a:p>
          <a:p>
            <a:pPr algn="l">
              <a:lnSpc>
                <a:spcPct val="150000"/>
              </a:lnSpc>
            </a:pPr>
            <a:r>
              <a:rPr sz="1400" b="0">
                <a:solidFill>
                  <a:srgbClr val="52514E"/>
                </a:solidFill>
                <a:latin typeface="DejaVu Sans"/>
              </a:rPr>
              <a:t>·  Re-execution verification — turn P10 from possible into performed</a:t>
            </a:r>
          </a:p>
          <a:p>
            <a:pPr algn="l">
              <a:lnSpc>
                <a:spcPct val="150000"/>
              </a:lnSpc>
            </a:pPr>
            <a:r>
              <a:rPr sz="1400" b="0">
                <a:solidFill>
                  <a:srgbClr val="52514E"/>
                </a:solidFill>
                <a:latin typeface="DejaVu Sans"/>
              </a:rPr>
              <a:t>·  A second adapter, to make portability a demonstration rather than an argument</a:t>
            </a:r>
          </a:p>
          <a:p>
            <a:pPr algn="l">
              <a:lnSpc>
                <a:spcPct val="150000"/>
              </a:lnSpc>
            </a:pPr>
            <a:r>
              <a:rPr sz="1000" b="0">
                <a:solidFill>
                  <a:srgbClr val="52514E"/>
                </a:solidFill>
                <a:latin typeface="DejaVu Sans"/>
              </a:rPr>
              <a:t/>
            </a:r>
          </a:p>
          <a:p>
            <a:pPr algn="l">
              <a:lnSpc>
                <a:spcPct val="150000"/>
              </a:lnSpc>
            </a:pPr>
            <a:r>
              <a:rPr sz="1600" b="1">
                <a:solidFill>
                  <a:srgbClr val="2A78D6"/>
                </a:solidFill>
                <a:latin typeface="DejaVu Sans"/>
              </a:rPr>
              <a:t>Then Gate 2 — source ↔ result coherence, on the same model seam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