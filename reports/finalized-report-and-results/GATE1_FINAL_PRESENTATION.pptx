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10A37F"/>
                </a:solidFill>
                <a:latin typeface="Noto Sans"/>
              </a:rPr>
              <a:t>FINAL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>
                <a:solidFill>
                  <a:srgbClr val="FFFFFF"/>
                </a:solidFill>
                <a:latin typeface="Noto Sans"/>
              </a:rPr>
              <a:t>G.A.T.E.S. — Gate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51967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750" b="0">
                <a:solidFill>
                  <a:srgbClr val="AAAAA5"/>
                </a:solidFill>
                <a:latin typeface="Noto Sa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987552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500" b="0">
                <a:solidFill>
                  <a:srgbClr val="D7D7D2"/>
                </a:solidFill>
                <a:latin typeface="Noto Sans"/>
              </a:rPr>
              <a:t>Execution validity, evidence provenance,
and measured Agent Laboratory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98280" y="1508760"/>
            <a:ext cx="2331720" cy="2331720"/>
          </a:xfrm>
          <a:prstGeom prst="roundRect">
            <a:avLst>
              <a:gd name="adj" fmla="val 16000"/>
            </a:avLst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81160" y="1755648"/>
            <a:ext cx="1965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3200" b="1">
                <a:solidFill>
                  <a:srgbClr val="0D0D0D"/>
                </a:solidFill>
                <a:latin typeface="Noto Sans"/>
              </a:rPr>
              <a:t>40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2423160"/>
            <a:ext cx="19659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500" b="1">
                <a:solidFill>
                  <a:srgbClr val="0D0D0D"/>
                </a:solidFill>
                <a:latin typeface="Noto Sans"/>
              </a:rPr>
              <a:t>required values
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1078992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0">
                <a:solidFill>
                  <a:srgbClr val="A5A5A0"/>
                </a:solidFill>
                <a:latin typeface="Noto Sans"/>
              </a:rPr>
              <a:t>10 gated + 10 ungated artifacts  ·  362 passing tests  ·  DeepSeek V4 Flash
MLR-Bench comparator  ·  combined Claude + Codex analysis · portable verification bundle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51960"/>
            <a:ext cx="2971800" cy="310896"/>
          </a:xfrm>
          <a:prstGeom prst="roundRect">
            <a:avLst>
              <a:gd name="adj" fmla="val 16000"/>
            </a:avLst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88536"/>
            <a:ext cx="2971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850" b="1">
                <a:solidFill>
                  <a:srgbClr val="08725C"/>
                </a:solidFill>
                <a:latin typeface="Noto Sans"/>
              </a:rPr>
              <a:t>FINAL PROFESSOR SUBMISSION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803136"/>
            <a:ext cx="761980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10A37F"/>
                </a:solidFill>
                <a:latin typeface="Noto Sans"/>
              </a:rPr>
              <a:t>READOUT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0D0D0D"/>
                </a:solidFill>
                <a:latin typeface="Noto Sans"/>
              </a:rPr>
              <a:t>Gate 1 improved evidence fidelity—not scientific judgment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10607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50" b="0">
                <a:solidFill>
                  <a:srgbClr val="7B7B75"/>
                </a:solidFill>
                <a:latin typeface="Noto Sans"/>
              </a:rPr>
              <a:t>Source: verification/evidence/full_workflow_analysis.json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967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750" b="0">
                <a:solidFill>
                  <a:srgbClr val="7B7B75"/>
                </a:solidFill>
                <a:latin typeface="Noto San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474720" cy="1572768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1089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0A37F"/>
                </a:solidFill>
                <a:latin typeface="Noto Sans"/>
              </a:rPr>
              <a:t>40/40 vs 0/40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39696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0D0D0D"/>
                </a:solidFill>
                <a:latin typeface="Noto Sans"/>
              </a:rPr>
              <a:t>required values 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32888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19" b="0">
                <a:solidFill>
                  <a:srgbClr val="7B7B75"/>
                </a:solidFill>
                <a:latin typeface="Noto Sans"/>
              </a:rPr>
              <a:t>+100 percentage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474720" cy="1572768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54480"/>
            <a:ext cx="31089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0A37F"/>
                </a:solidFill>
                <a:latin typeface="Noto Sans"/>
              </a:rPr>
              <a:t>4/4 vs 0/4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39696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0D0D0D"/>
                </a:solidFill>
                <a:latin typeface="Noto Sans"/>
              </a:rPr>
              <a:t>required values in papers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32888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19" b="0">
                <a:solidFill>
                  <a:srgbClr val="7B7B75"/>
                </a:solidFill>
                <a:latin typeface="Noto Sans"/>
              </a:rPr>
              <a:t>gated writer received the registry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474720" cy="1572768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54480"/>
            <a:ext cx="31089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0A37F"/>
                </a:solidFill>
                <a:latin typeface="Noto Sans"/>
              </a:rPr>
              <a:t>96.6% vs 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39696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0D0D0D"/>
                </a:solidFill>
                <a:latin typeface="Noto Sans"/>
              </a:rPr>
              <a:t>paper-claim 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32888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19" b="0">
                <a:solidFill>
                  <a:srgbClr val="7B7B75"/>
                </a:solidFill>
                <a:latin typeface="Noto Sans"/>
              </a:rPr>
              <a:t>direct registry + checkable derivations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703320"/>
            <a:ext cx="10744200" cy="1417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2000" b="1">
                <a:solidFill>
                  <a:srgbClr val="08725C"/>
                </a:solidFill>
                <a:latin typeface="Noto Sans"/>
              </a:rPr>
              <a:t>Accept Gate 1</a:t>
            </a:r>
          </a:p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1800" b="1">
                <a:solidFill>
                  <a:srgbClr val="0D0D0D"/>
                </a:solidFill>
                <a:latin typeface="Noto Sans"/>
              </a:rPr>
              <a:t>for deterministic execution validity, typed result capture, and value-layer provenance.</a:t>
            </a:r>
          </a:p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1400" b="0">
                <a:solidFill>
                  <a:srgbClr val="555550"/>
                </a:solidFill>
                <a:latin typeface="Noto Sans"/>
              </a:rPr>
              <a:t>Paper quality did not materially improve. Gate 1 does not verify scientific interpretation or manuscript compliance.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1523961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10A37F"/>
                </a:solidFill>
                <a:latin typeface="Noto Sans"/>
              </a:rP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0D0D0D"/>
                </a:solidFill>
                <a:latin typeface="Noto Sans"/>
              </a:rPr>
              <a:t>A deterministic trust boundary between code and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10607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50" b="0">
                <a:solidFill>
                  <a:srgbClr val="7B7B75"/>
                </a:solidFill>
                <a:latin typeface="Noto Sans"/>
              </a:rPr>
              <a:t>Sources: gates/gate1.py; gates/runner.py; gates/registry.py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967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750" b="0">
                <a:solidFill>
                  <a:srgbClr val="7B7B75"/>
                </a:solidFill>
                <a:latin typeface="Noto San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874519" cy="1874519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 w="10160">
            <a:solidFill>
              <a:srgbClr val="DE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956816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10A37F"/>
                </a:solidFill>
                <a:latin typeface="Noto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304288"/>
            <a:ext cx="158191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0D0D0D"/>
                </a:solidFill>
                <a:latin typeface="Noto Sans"/>
              </a:rPr>
              <a:t>Candidate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743200"/>
            <a:ext cx="1581911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0">
                <a:solidFill>
                  <a:srgbClr val="555550"/>
                </a:solidFill>
                <a:latin typeface="Noto Sans"/>
              </a:rPr>
              <a:t>Agent-written experiment source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79" y="2743200"/>
            <a:ext cx="411481" cy="0"/>
          </a:xfrm>
          <a:prstGeom prst="line">
            <a:avLst/>
          </a:prstGeom>
          <a:ln w="25400">
            <a:solidFill>
              <a:srgbClr val="10A3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28800"/>
            <a:ext cx="1874519" cy="1874519"/>
          </a:xfrm>
          <a:prstGeom prst="roundRect">
            <a:avLst>
              <a:gd name="adj" fmla="val 16000"/>
            </a:avLst>
          </a:prstGeom>
          <a:solidFill>
            <a:srgbClr val="DEF4EC"/>
          </a:solidFill>
          <a:ln w="10160">
            <a:solidFill>
              <a:srgbClr val="DE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1956816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10A37F"/>
                </a:solidFill>
                <a:latin typeface="Noto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2304288"/>
            <a:ext cx="158191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0D0D0D"/>
                </a:solidFill>
                <a:latin typeface="Noto Sans"/>
              </a:rPr>
              <a:t>Gate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2743200"/>
            <a:ext cx="1581911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0">
                <a:solidFill>
                  <a:srgbClr val="555550"/>
                </a:solidFill>
                <a:latin typeface="Noto Sans"/>
              </a:rPr>
              <a:t>Static checks + process-isolated execution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54879" y="2743200"/>
            <a:ext cx="411481" cy="0"/>
          </a:xfrm>
          <a:prstGeom prst="line">
            <a:avLst/>
          </a:prstGeom>
          <a:ln w="25400">
            <a:solidFill>
              <a:srgbClr val="10A3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66360" y="1828800"/>
            <a:ext cx="1874519" cy="1874519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 w="10160">
            <a:solidFill>
              <a:srgbClr val="DE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1956816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10A37F"/>
                </a:solidFill>
                <a:latin typeface="Noto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2304288"/>
            <a:ext cx="158191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0D0D0D"/>
                </a:solidFill>
                <a:latin typeface="Noto Sans"/>
              </a:rP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2743200"/>
            <a:ext cx="1581911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0">
                <a:solidFill>
                  <a:srgbClr val="555550"/>
                </a:solidFill>
                <a:latin typeface="Noto Sans"/>
              </a:rPr>
              <a:t>FAIL blocks; WARN/INFO diagnose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40880" y="2743200"/>
            <a:ext cx="411480" cy="0"/>
          </a:xfrm>
          <a:prstGeom prst="line">
            <a:avLst/>
          </a:prstGeom>
          <a:ln w="25400">
            <a:solidFill>
              <a:srgbClr val="10A3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52360" y="1828800"/>
            <a:ext cx="1874519" cy="1874519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 w="10160">
            <a:solidFill>
              <a:srgbClr val="DE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98664" y="1956816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10A37F"/>
                </a:solidFill>
                <a:latin typeface="Noto San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2304288"/>
            <a:ext cx="158191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0D0D0D"/>
                </a:solidFill>
                <a:latin typeface="Noto Sans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8664" y="2743200"/>
            <a:ext cx="1581911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0">
                <a:solidFill>
                  <a:srgbClr val="555550"/>
                </a:solidFill>
                <a:latin typeface="Noto Sans"/>
              </a:rPr>
              <a:t>Full logs + typed registry + source hash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26880" y="2743200"/>
            <a:ext cx="411480" cy="0"/>
          </a:xfrm>
          <a:prstGeom prst="line">
            <a:avLst/>
          </a:prstGeom>
          <a:ln w="25400">
            <a:solidFill>
              <a:srgbClr val="10A3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738360" y="1828800"/>
            <a:ext cx="1874519" cy="1874519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 w="10160">
            <a:solidFill>
              <a:srgbClr val="DE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84664" y="1956816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10A37F"/>
                </a:solidFill>
                <a:latin typeface="Noto San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84664" y="2304288"/>
            <a:ext cx="158191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0D0D0D"/>
                </a:solidFill>
                <a:latin typeface="Noto Sans"/>
              </a:rPr>
              <a:t>Writer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4664" y="2743200"/>
            <a:ext cx="1581911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0">
                <a:solidFill>
                  <a:srgbClr val="555550"/>
                </a:solidFill>
                <a:latin typeface="Noto Sans"/>
              </a:rPr>
              <a:t>Receives citable values, not a prose slice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" y="4434840"/>
            <a:ext cx="9784080" cy="1005840"/>
          </a:xfrm>
          <a:prstGeom prst="roundRect">
            <a:avLst>
              <a:gd name="adj" fmla="val 16000"/>
            </a:avLst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0" y="4681728"/>
            <a:ext cx="92354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500" b="1">
                <a:solidFill>
                  <a:srgbClr val="08725C"/>
                </a:solidFill>
                <a:latin typeface="Noto Sans"/>
              </a:rPr>
              <a:t>The verdict is model-free. Optional model scanning and fix prose cannot admit or reject an execution.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803136"/>
            <a:ext cx="2285942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10A37F"/>
                </a:solidFill>
                <a:latin typeface="Noto Sans"/>
              </a:rPr>
              <a:t>TESTING 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0D0D0D"/>
                </a:solidFill>
                <a:latin typeface="Noto Sans"/>
              </a:rPr>
              <a:t>One common configuration; one intentional evidence-window stressor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10607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50" b="0">
                <a:solidFill>
                  <a:srgbClr val="7B7B75"/>
                </a:solidFill>
                <a:latin typeface="Noto Sans"/>
              </a:rPr>
              <a:t>Source: verification/run-metadata/gate1_common_deepseek.yaml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967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750" b="0">
                <a:solidFill>
                  <a:srgbClr val="7B7B75"/>
                </a:solidFill>
                <a:latin typeface="Noto San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246120" cy="1572768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880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0A37F"/>
                </a:solidFill>
                <a:latin typeface="Noto Sans"/>
              </a:rPr>
              <a:t>10 + 10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39696"/>
            <a:ext cx="2880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0D0D0D"/>
                </a:solidFill>
                <a:latin typeface="Noto Sans"/>
              </a:rPr>
              <a:t>execution artifacts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32888"/>
            <a:ext cx="2880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19" b="0">
                <a:solidFill>
                  <a:srgbClr val="7B7B75"/>
                </a:solidFill>
                <a:latin typeface="Noto Sans"/>
              </a:rPr>
              <a:t>same count in both arms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1417320"/>
            <a:ext cx="3246120" cy="1572768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554480"/>
            <a:ext cx="2880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0A37F"/>
                </a:solidFill>
                <a:latin typeface="Noto Sans"/>
              </a:rPr>
              <a:t>a0409cf…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139696"/>
            <a:ext cx="2880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0D0D0D"/>
                </a:solidFill>
                <a:latin typeface="Noto Sans"/>
              </a:rPr>
              <a:t>shared YAML 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532888"/>
            <a:ext cx="2880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19" b="0">
                <a:solidFill>
                  <a:srgbClr val="7B7B75"/>
                </a:solidFill>
                <a:latin typeface="Noto Sans"/>
              </a:rPr>
              <a:t>exact config identity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417320"/>
            <a:ext cx="4114800" cy="1572768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59" y="1554480"/>
            <a:ext cx="3749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0A37F"/>
                </a:solidFill>
                <a:latin typeface="Noto Sans"/>
              </a:rPr>
              <a:t>&gt;1,000 chars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59" y="2139696"/>
            <a:ext cx="37490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0D0D0D"/>
                </a:solidFill>
                <a:latin typeface="Noto Sans"/>
              </a:rPr>
              <a:t>logging before final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2532888"/>
            <a:ext cx="3749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19" b="0">
                <a:solidFill>
                  <a:srgbClr val="7B7B75"/>
                </a:solidFill>
                <a:latin typeface="Noto Sans"/>
              </a:rPr>
              <a:t>deliberately crosses the legacy 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29000"/>
            <a:ext cx="11064240" cy="1965960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675887"/>
            <a:ext cx="1600200" cy="310896"/>
          </a:xfrm>
          <a:prstGeom prst="roundRect">
            <a:avLst>
              <a:gd name="adj" fmla="val 16000"/>
            </a:avLst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12463"/>
            <a:ext cx="1600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850" b="1">
                <a:solidFill>
                  <a:srgbClr val="08725C"/>
                </a:solidFill>
                <a:latin typeface="Noto Sans"/>
              </a:rPr>
              <a:t>REQUIRED 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69663"/>
            <a:ext cx="5120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0D0D0D"/>
                </a:solidFill>
                <a:latin typeface="Noto Sans Mono"/>
              </a:rPr>
              <a:t>eff.acc_at_25  ·  eff.acc_at_100
eff.efficiency_ratio  ·  eff.train_s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657600"/>
            <a:ext cx="475488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555550"/>
                </a:solidFill>
                <a:latin typeface="Noto Sans"/>
              </a:rPr>
              <a:t>Both writers were told: if evidence is absent, say so—never estimate or reconstruct a result.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687568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150" b="0">
                <a:solidFill>
                  <a:srgbClr val="7B7B75"/>
                </a:solidFill>
                <a:latin typeface="Noto Sans"/>
              </a:rPr>
              <a:t>Arm switch: GATES_GATE1=on/off. No credential was stored in YAML, argv, source, or logs.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803136"/>
            <a:ext cx="3047923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10A37F"/>
                </a:solidFill>
                <a:latin typeface="Noto Sans"/>
              </a:rPr>
              <a:t>FEEDBACK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0D0D0D"/>
                </a:solidFill>
                <a:latin typeface="Noto Sans"/>
              </a:rPr>
              <a:t>A failed verdict becomes bounded repair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10607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50" b="0">
                <a:solidFill>
                  <a:srgbClr val="7B7B75"/>
                </a:solidFill>
                <a:latin typeface="Noto Sans"/>
              </a:rPr>
              <a:t>Sources: rig/gate1_loop.py; verification/evidence/gate1_loop_repeat_{1,2,3}.json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967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750" b="0">
                <a:solidFill>
                  <a:srgbClr val="7B7B75"/>
                </a:solidFill>
                <a:latin typeface="Noto San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286000" cy="1874519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 w="10160">
            <a:solidFill>
              <a:srgbClr val="DE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728216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10A37F"/>
                </a:solidFill>
                <a:latin typeface="Noto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075688"/>
            <a:ext cx="199339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0D0D0D"/>
                </a:solidFill>
                <a:latin typeface="Noto Sans"/>
              </a:rPr>
              <a:t>Engineer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514600"/>
            <a:ext cx="1993392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0">
                <a:solidFill>
                  <a:srgbClr val="555550"/>
                </a:solidFill>
                <a:latin typeface="Noto Sans"/>
              </a:rPr>
              <a:t>Submit candidate source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514600"/>
            <a:ext cx="548640" cy="0"/>
          </a:xfrm>
          <a:prstGeom prst="line">
            <a:avLst/>
          </a:prstGeom>
          <a:ln w="25400">
            <a:solidFill>
              <a:srgbClr val="10A3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1600200"/>
            <a:ext cx="2286000" cy="1874519"/>
          </a:xfrm>
          <a:prstGeom prst="roundRect">
            <a:avLst>
              <a:gd name="adj" fmla="val 16000"/>
            </a:avLst>
          </a:prstGeom>
          <a:solidFill>
            <a:srgbClr val="DEF4EC"/>
          </a:solidFill>
          <a:ln w="10160">
            <a:solidFill>
              <a:srgbClr val="DE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28216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10A37F"/>
                </a:solidFill>
                <a:latin typeface="Noto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75688"/>
            <a:ext cx="199339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0D0D0D"/>
                </a:solidFill>
                <a:latin typeface="Noto Sans"/>
              </a:rPr>
              <a:t>Gate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514600"/>
            <a:ext cx="1993392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0">
                <a:solidFill>
                  <a:srgbClr val="555550"/>
                </a:solidFill>
                <a:latin typeface="Noto Sans"/>
              </a:rPr>
              <a:t>Exact checks, source line, logs, fixes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720" y="2514600"/>
            <a:ext cx="548640" cy="0"/>
          </a:xfrm>
          <a:prstGeom prst="line">
            <a:avLst/>
          </a:prstGeom>
          <a:ln w="25400">
            <a:solidFill>
              <a:srgbClr val="10A3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09360" y="1600200"/>
            <a:ext cx="2286000" cy="1874519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 w="10160">
            <a:solidFill>
              <a:srgbClr val="DE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1728216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10A37F"/>
                </a:solidFill>
                <a:latin typeface="Noto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075688"/>
            <a:ext cx="199339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0D0D0D"/>
                </a:solidFill>
                <a:latin typeface="Noto Sans"/>
              </a:rPr>
              <a:t>Retry or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514600"/>
            <a:ext cx="1993392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0">
                <a:solidFill>
                  <a:srgbClr val="555550"/>
                </a:solidFill>
                <a:latin typeface="Noto Sans"/>
              </a:rPr>
              <a:t>Next rewrite receives structured feedback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95360" y="2514600"/>
            <a:ext cx="548640" cy="0"/>
          </a:xfrm>
          <a:prstGeom prst="line">
            <a:avLst/>
          </a:prstGeom>
          <a:ln w="25400">
            <a:solidFill>
              <a:srgbClr val="10A3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0" y="1600200"/>
            <a:ext cx="2377440" cy="1874519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 w="10160">
            <a:solidFill>
              <a:srgbClr val="DE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1728216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10A37F"/>
                </a:solidFill>
                <a:latin typeface="Noto San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2075688"/>
            <a:ext cx="20848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0D0D0D"/>
                </a:solidFill>
                <a:latin typeface="Noto Sans"/>
              </a:rPr>
              <a:t>Stop condition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514600"/>
            <a:ext cx="2084832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0">
                <a:solidFill>
                  <a:srgbClr val="555550"/>
                </a:solidFill>
                <a:latin typeface="Noto Sans"/>
              </a:rPr>
              <a:t>3 rejects → GateFailure; no paper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51960"/>
            <a:ext cx="2468880" cy="1572768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389120"/>
            <a:ext cx="21031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0A37F"/>
                </a:solidFill>
                <a:latin typeface="Noto Sans"/>
              </a:rPr>
              <a:t>36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974336"/>
            <a:ext cx="2103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0D0D0D"/>
                </a:solidFill>
                <a:latin typeface="Noto Sans"/>
              </a:rPr>
              <a:t>executions retained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4251960"/>
            <a:ext cx="2468880" cy="1572768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4389120"/>
            <a:ext cx="21031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DF633F"/>
                </a:solidFill>
                <a:latin typeface="Noto Sans"/>
              </a:rPr>
              <a:t>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974336"/>
            <a:ext cx="2103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0D0D0D"/>
                </a:solidFill>
                <a:latin typeface="Noto Sans"/>
              </a:rPr>
              <a:t>rejected turns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251960"/>
            <a:ext cx="2468880" cy="1572768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389120"/>
            <a:ext cx="21031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DF633F"/>
                </a:solidFill>
                <a:latin typeface="Noto Sans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974336"/>
            <a:ext cx="2103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0D0D0D"/>
                </a:solidFill>
                <a:latin typeface="Noto Sans"/>
              </a:rPr>
              <a:t>legacy-blind rejects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4251960"/>
            <a:ext cx="2468880" cy="1572768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4389120"/>
            <a:ext cx="21031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0A37F"/>
                </a:solidFill>
                <a:latin typeface="Noto Sans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974336"/>
            <a:ext cx="2103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0D0D0D"/>
                </a:solidFill>
                <a:latin typeface="Noto Sans"/>
              </a:rPr>
              <a:t>scenario mismatches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803136"/>
            <a:ext cx="3809904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10A37F"/>
                </a:solidFill>
                <a:latin typeface="Noto Sans"/>
              </a:rPr>
              <a:t>FEEDBACK REPORT +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0D0D0D"/>
                </a:solidFill>
                <a:latin typeface="Noto Sans"/>
              </a:rPr>
              <a:t>The loop returns evidence the agent can locate and act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10607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50" b="0">
                <a:solidFill>
                  <a:srgbClr val="7B7B75"/>
                </a:solidFill>
                <a:latin typeface="Noto Sans"/>
              </a:rPr>
              <a:t>Source: verification/evidence/feedback_loop_example/.../attempt_02/gate1_report.json + stdout.txt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967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750" b="0">
                <a:solidFill>
                  <a:srgbClr val="7B7B75"/>
                </a:solidFill>
                <a:latin typeface="Noto San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6629400" cy="4526280"/>
          </a:xfrm>
          <a:prstGeom prst="roundRect">
            <a:avLst>
              <a:gd name="adj" fmla="val 16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72184"/>
            <a:ext cx="6263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>
                <a:solidFill>
                  <a:srgbClr val="10A37F"/>
                </a:solidFill>
                <a:latin typeface="Noto Sans"/>
              </a:rPr>
              <a:t>ACTUAL ATTEMPT 2 REPORT — ABRIDGED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6263640" cy="3886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40" b="0">
                <a:solidFill>
                  <a:srgbClr val="E8E8E3"/>
                </a:solidFill>
                <a:latin typeface="Noto Sans Mono"/>
              </a:rPr>
              <a:t>GATE 1 — EXECUTION VALIDITY: FAIL   (attempt 2 of 3)
[exec.exit_code_zero]  exited 1
[exec.no_uncaught_exception]  NameError: name 'correct' is not defined
[results.contract_present]  no results were declared — the run crashed before any record_result() call completed
warning: no seed was declared
stdout: 3,420 bytes captured in full
source hash: 0f4e60778e3e…
line 8: test_acc = correct / total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325880"/>
            <a:ext cx="4160520" cy="4526280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2" y="1673352"/>
            <a:ext cx="3566160" cy="3840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600" b="1">
                <a:solidFill>
                  <a:srgbClr val="0D0D0D"/>
                </a:solidFill>
                <a:latin typeface="Noto Sans"/>
              </a:rPr>
              <a:t>Why it mattered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DF633F"/>
                </a:solidFill>
                <a:latin typeface="Noto Sans"/>
              </a:rPr>
              <a:t>The crash marker landed at character 3,442.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300" b="0">
                <a:solidFill>
                  <a:srgbClr val="555550"/>
                </a:solidFill>
                <a:latin typeface="Noto Sans"/>
              </a:rPr>
              <a:t>The legacy detector only received the first 1,000 characters and would have accepted the run.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300" b="1">
                <a:solidFill>
                  <a:srgbClr val="08725C"/>
                </a:solidFill>
                <a:latin typeface="Noto Sans"/>
              </a:rPr>
              <a:t>Gate 1 retained the full log, rejected the exception, and returned three concrete fixes.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4571885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10A37F"/>
                </a:solidFill>
                <a:latin typeface="Noto Sans"/>
              </a:rPr>
              <a:t>ALL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500" b="1">
                <a:solidFill>
                  <a:srgbClr val="0D0D0D"/>
                </a:solidFill>
                <a:latin typeface="Noto Sans"/>
              </a:rPr>
              <a:t>22 checks: 13 block; 9 diagnose and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10607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50" b="0">
                <a:solidFill>
                  <a:srgbClr val="7B7B75"/>
                </a:solidFill>
                <a:latin typeface="Noto Sans"/>
              </a:rPr>
              <a:t>Source: GATE1_VALIDATION_REPORT.md § All Gate 1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967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750" b="0">
                <a:solidFill>
                  <a:srgbClr val="7B7B75"/>
                </a:solidFill>
                <a:latin typeface="Noto San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6766560" cy="4526280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581912"/>
            <a:ext cx="1463040" cy="310896"/>
          </a:xfrm>
          <a:prstGeom prst="roundRect">
            <a:avLst>
              <a:gd name="adj" fmla="val 16000"/>
            </a:avLst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18488"/>
            <a:ext cx="1463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850" b="1">
                <a:solidFill>
                  <a:srgbClr val="08725C"/>
                </a:solidFill>
                <a:latin typeface="Noto Sans"/>
              </a:rPr>
              <a:t>13 BLOCKING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965960" cy="3337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1">
                <a:solidFill>
                  <a:srgbClr val="08725C"/>
                </a:solidFill>
                <a:latin typeface="Noto Sans"/>
              </a:rPr>
              <a:t>STATIC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50" b="0">
                <a:solidFill>
                  <a:srgbClr val="0D0D0D"/>
                </a:solidFill>
                <a:latin typeface="Noto Sans Mono"/>
              </a:rPr>
              <a:t>syntax_valid
no_unbound_names
no_banned_calls
contract_not_shadowed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057400"/>
            <a:ext cx="2011680" cy="3337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1">
                <a:solidFill>
                  <a:srgbClr val="08725C"/>
                </a:solidFill>
                <a:latin typeface="Noto Sans"/>
              </a:rPr>
              <a:t>EXECUTION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50" b="0">
                <a:solidFill>
                  <a:srgbClr val="0D0D0D"/>
                </a:solidFill>
                <a:latin typeface="Noto Sans Mono"/>
              </a:rPr>
              <a:t>completed_within_budget
exit_code_zero
no_uncaught_exception
code_identity
clean_namespace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057400"/>
            <a:ext cx="1965960" cy="3337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1">
                <a:solidFill>
                  <a:srgbClr val="08725C"/>
                </a:solidFill>
                <a:latin typeface="Noto Sans"/>
              </a:rPr>
              <a:t>RESULTS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50" b="0">
                <a:solidFill>
                  <a:srgbClr val="0D0D0D"/>
                </a:solidFill>
                <a:latin typeface="Noto Sans Mono"/>
              </a:rPr>
              <a:t>contract_present
expected_keys_present
values_computed
values_finite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325880"/>
            <a:ext cx="4023360" cy="4526280"/>
          </a:xfrm>
          <a:prstGeom prst="roundRect">
            <a:avLst>
              <a:gd name="adj" fmla="val 16000"/>
            </a:avLst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82127" y="1581912"/>
            <a:ext cx="1783080" cy="3108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2127" y="1618488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850" b="1">
                <a:solidFill>
                  <a:srgbClr val="08725C"/>
                </a:solidFill>
                <a:latin typeface="Noto Sans"/>
              </a:rPr>
              <a:t>6 WARN + 3 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2084831"/>
            <a:ext cx="3337560" cy="3246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00" b="1">
                <a:solidFill>
                  <a:srgbClr val="08725C"/>
                </a:solidFill>
                <a:latin typeface="Noto Sans"/>
              </a:rPr>
              <a:t>DIAGNOSTIC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050" b="0">
                <a:solidFill>
                  <a:srgbClr val="0D0D0D"/>
                </a:solidFill>
                <a:latin typeface="Noto Sans Mono"/>
              </a:rPr>
              <a:t>no_swallowed_traceback
no_error_signals
model_error_signals
seed_recorded
single_observation
non_degenerate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00" b="1">
                <a:solidFill>
                  <a:srgbClr val="08725C"/>
                </a:solidFill>
                <a:latin typeface="Noto Sans"/>
              </a:rPr>
              <a:t>AUDIT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050" b="0">
                <a:solidFill>
                  <a:srgbClr val="0D0D0D"/>
                </a:solidFill>
                <a:latin typeface="Noto Sans Mono"/>
              </a:rPr>
              <a:t>output.untruncated
env.provenance
report.fixes_grounded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080" b="1">
                <a:solidFill>
                  <a:srgbClr val="555550"/>
                </a:solidFill>
                <a:latin typeface="Noto Sans"/>
              </a:rPr>
              <a:t>Full gated campaign: every blocker passed 10/10. Nine attempts warned on changing duplicate timing values; final attempt was clean.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5333866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10A37F"/>
                </a:solidFill>
                <a:latin typeface="Noto Sans"/>
              </a:rPr>
              <a:t>FULL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1">
                <a:solidFill>
                  <a:srgbClr val="0D0D0D"/>
                </a:solidFill>
                <a:latin typeface="Noto Sans"/>
              </a:rPr>
              <a:t>The code often computed results; only Gate 1 delivered a citable evidence bundle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10607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50" b="0">
                <a:solidFill>
                  <a:srgbClr val="7B7B75"/>
                </a:solidFill>
                <a:latin typeface="Noto Sans"/>
              </a:rPr>
              <a:t>Sources: full_workflow_analysis.json; gated workflow.log line 314; ungated workflow.log line 491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967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750" b="0">
                <a:solidFill>
                  <a:srgbClr val="7B7B75"/>
                </a:solidFill>
                <a:latin typeface="Noto San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40680" cy="4343400"/>
          </a:xfrm>
          <a:prstGeom prst="roundRect">
            <a:avLst>
              <a:gd name="adj" fmla="val 16000"/>
            </a:avLst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64208"/>
            <a:ext cx="1371600" cy="3108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00784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850" b="1">
                <a:solidFill>
                  <a:srgbClr val="08725C"/>
                </a:solidFill>
                <a:latin typeface="Noto Sans"/>
              </a:rPr>
              <a:t>GATE 1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6634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08725C"/>
                </a:solidFill>
                <a:latin typeface="Noto Sans"/>
              </a:rPr>
              <a:t>10/10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4663440" cy="1554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00">
                <a:solidFill>
                  <a:srgbClr val="0D0D0D"/>
                </a:solidFill>
                <a:latin typeface="Noto Sans"/>
              </a:rPr>
              <a:t>•  40/40 required values recorded and delivered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00">
                <a:solidFill>
                  <a:srgbClr val="0D0D0D"/>
                </a:solidFill>
                <a:latin typeface="Noto Sans"/>
              </a:rPr>
              <a:t>•  10 reports + 10 citable registries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00">
                <a:solidFill>
                  <a:srgbClr val="0D0D0D"/>
                </a:solidFill>
                <a:latin typeface="Noto Sans"/>
              </a:rPr>
              <a:t>•  4,099–6,962 bytes of stdout retained in full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83480"/>
            <a:ext cx="4617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1">
                <a:solidFill>
                  <a:srgbClr val="08725C"/>
                </a:solidFill>
                <a:latin typeface="Noto Sans Mono"/>
              </a:rPr>
              <a:t>workflow.log: GATE 1 — EXECUTION VALIDITY: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349240" cy="4343400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1664208"/>
            <a:ext cx="1417320" cy="3108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700784"/>
            <a:ext cx="1417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850" b="1">
                <a:solidFill>
                  <a:srgbClr val="555550"/>
                </a:solidFill>
                <a:latin typeface="Noto Sans"/>
              </a:rPr>
              <a:t>GATE 1 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48840"/>
            <a:ext cx="45720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555550"/>
                </a:solidFill>
                <a:latin typeface="Noto Sans"/>
              </a:rPr>
              <a:t>9/10 ACCEPTED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971800"/>
            <a:ext cx="4572000" cy="1554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00">
                <a:solidFill>
                  <a:srgbClr val="0D0D0D"/>
                </a:solidFill>
                <a:latin typeface="Noto Sans"/>
              </a:rPr>
              <a:t>•  36/40 required values recorded; 0/40 delivered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00">
                <a:solidFill>
                  <a:srgbClr val="0D0D0D"/>
                </a:solidFill>
                <a:latin typeface="Noto Sans"/>
              </a:rPr>
              <a:t>•  One visible syntax failure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00">
                <a:solidFill>
                  <a:srgbClr val="0D0D0D"/>
                </a:solidFill>
                <a:latin typeface="Noto Sans"/>
              </a:rPr>
              <a:t>•  19,945 characters captured; 1,000 handed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98348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1">
                <a:solidFill>
                  <a:srgbClr val="DF633F"/>
                </a:solidFill>
                <a:latin typeface="Noto Sans Mono"/>
              </a:rPr>
              <a:t>workflow.log: gate 1 BYPASSED — 1,000 handed 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6095847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10A37F"/>
                </a:solidFill>
                <a:latin typeface="Noto Sans"/>
              </a:rPr>
              <a:t>MEASURED TREATMENT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1">
                <a:solidFill>
                  <a:srgbClr val="0D0D0D"/>
                </a:solidFill>
                <a:latin typeface="Noto Sans"/>
              </a:rPr>
              <a:t>The evidence channel is the causal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10607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50" b="0">
                <a:solidFill>
                  <a:srgbClr val="7B7B75"/>
                </a:solidFill>
                <a:latin typeface="Noto Sans"/>
              </a:rPr>
              <a:t>Source: full_workflow_analysis.json; fixed-artifact legacy-view reconstruction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967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750" b="0">
                <a:solidFill>
                  <a:srgbClr val="7B7B75"/>
                </a:solidFill>
                <a:latin typeface="Noto San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965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0D0D0D"/>
                </a:solidFill>
                <a:latin typeface="Noto Sans"/>
              </a:rPr>
              <a:t>Required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600200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10A37F"/>
                </a:solidFill>
                <a:latin typeface="Noto Sans"/>
              </a:rPr>
              <a:t>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618488"/>
            <a:ext cx="740664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0" y="1618488"/>
            <a:ext cx="7406640" cy="164592"/>
          </a:xfrm>
          <a:prstGeom prst="roundRect">
            <a:avLst>
              <a:gd name="adj" fmla="val 8000"/>
            </a:avLst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563624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10A37F"/>
                </a:solidFill>
                <a:latin typeface="Noto Sans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911096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555550"/>
                </a:solidFill>
                <a:latin typeface="Noto Sans"/>
              </a:rPr>
              <a:t>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929384"/>
            <a:ext cx="740664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8208" y="1874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555550"/>
                </a:solidFill>
                <a:latin typeface="Noto Sans"/>
              </a:rP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185416"/>
            <a:ext cx="7406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20" b="0">
                <a:solidFill>
                  <a:srgbClr val="7B7B75"/>
                </a:solidFill>
                <a:latin typeface="Noto Sans"/>
              </a:rPr>
              <a:t>40/40 vs 0/40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1965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0D0D0D"/>
                </a:solidFill>
                <a:latin typeface="Noto Sans"/>
              </a:rPr>
              <a:t>Paper required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743200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10A37F"/>
                </a:solidFill>
                <a:latin typeface="Noto Sans"/>
              </a:rPr>
              <a:t>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2761488"/>
            <a:ext cx="740664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00400" y="2761488"/>
            <a:ext cx="7406640" cy="164592"/>
          </a:xfrm>
          <a:prstGeom prst="roundRect">
            <a:avLst>
              <a:gd name="adj" fmla="val 8000"/>
            </a:avLst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08208" y="2706624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10A37F"/>
                </a:solidFill>
                <a:latin typeface="Noto Sans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054096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555550"/>
                </a:solidFill>
                <a:latin typeface="Noto Sans"/>
              </a:rPr>
              <a:t>OFF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3072384"/>
            <a:ext cx="740664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08208" y="3017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555550"/>
                </a:solidFill>
                <a:latin typeface="Noto Sans"/>
              </a:rPr>
              <a:t>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328416"/>
            <a:ext cx="7406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20" b="0">
                <a:solidFill>
                  <a:srgbClr val="7B7B75"/>
                </a:solidFill>
                <a:latin typeface="Noto Sans"/>
              </a:rPr>
              <a:t>4/4 vs 0/4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86200"/>
            <a:ext cx="1965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0D0D0D"/>
                </a:solidFill>
                <a:latin typeface="Noto Sans"/>
              </a:rPr>
              <a:t>Paper traceability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886200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10A37F"/>
                </a:solidFill>
                <a:latin typeface="Noto Sans"/>
              </a:rPr>
              <a:t>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3904488"/>
            <a:ext cx="740664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00400" y="3904488"/>
            <a:ext cx="7154814" cy="164592"/>
          </a:xfrm>
          <a:prstGeom prst="roundRect">
            <a:avLst>
              <a:gd name="adj" fmla="val 8000"/>
            </a:avLst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08208" y="3849624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10A37F"/>
                </a:solidFill>
                <a:latin typeface="Noto Sans"/>
              </a:rPr>
              <a:t>96.6%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4197096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555550"/>
                </a:solidFill>
                <a:latin typeface="Noto Sans"/>
              </a:rPr>
              <a:t>OFF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4215384"/>
            <a:ext cx="740664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08208" y="41605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555550"/>
                </a:solidFill>
                <a:latin typeface="Noto Sans"/>
              </a:rPr>
              <a:t>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471416"/>
            <a:ext cx="7406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20" b="0">
                <a:solidFill>
                  <a:srgbClr val="7B7B75"/>
                </a:solidFill>
                <a:latin typeface="Noto Sans"/>
              </a:rPr>
              <a:t>28/29 direct or checkably derived vs 0/11 registry-traceable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" y="5257800"/>
            <a:ext cx="10149840" cy="685800"/>
          </a:xfrm>
          <a:prstGeom prst="roundRect">
            <a:avLst>
              <a:gd name="adj" fmla="val 16000"/>
            </a:avLst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5440680"/>
            <a:ext cx="9692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700" b="1">
                <a:solidFill>
                  <a:srgbClr val="08725C"/>
                </a:solidFill>
                <a:latin typeface="Noto Sans"/>
              </a:rPr>
              <a:t>+100 percentage points in required-result delivery on the same artifacts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803136"/>
            <a:ext cx="6857828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10A37F"/>
                </a:solidFill>
                <a:latin typeface="Noto Sans"/>
              </a:rPr>
              <a:t>RAW TASK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0D0D0D"/>
                </a:solidFill>
                <a:latin typeface="Noto Sans"/>
              </a:rPr>
              <a:t>Raw accuracy differs, but it is not a Gate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10607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50" b="0">
                <a:solidFill>
                  <a:srgbClr val="7B7B75"/>
                </a:solidFill>
                <a:latin typeface="Noto Sans"/>
              </a:rPr>
              <a:t>Source: final attempt registries/results; one independent stochastic workflow per 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967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750" b="0">
                <a:solidFill>
                  <a:srgbClr val="7B7B75"/>
                </a:solidFill>
                <a:latin typeface="Noto San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965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0D0D0D"/>
                </a:solidFill>
                <a:latin typeface="Noto Sans"/>
              </a:rPr>
              <a:t>100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63040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10A37F"/>
                </a:solidFill>
                <a:latin typeface="Noto Sans"/>
              </a:rPr>
              <a:t>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481328"/>
            <a:ext cx="754380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54680" y="1481328"/>
            <a:ext cx="6713982" cy="164592"/>
          </a:xfrm>
          <a:prstGeom prst="roundRect">
            <a:avLst>
              <a:gd name="adj" fmla="val 8000"/>
            </a:avLst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99648" y="1426464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10A37F"/>
                </a:solidFill>
                <a:latin typeface="Noto Sans"/>
              </a:rPr>
              <a:t>89%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773936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555550"/>
                </a:solidFill>
                <a:latin typeface="Noto Sans"/>
              </a:rPr>
              <a:t>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1792224"/>
            <a:ext cx="754380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54680" y="1792224"/>
            <a:ext cx="5846445" cy="164592"/>
          </a:xfrm>
          <a:prstGeom prst="roundRect">
            <a:avLst>
              <a:gd name="adj" fmla="val 8000"/>
            </a:avLst>
          </a:prstGeom>
          <a:solidFill>
            <a:srgbClr val="555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99648" y="173736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555550"/>
                </a:solidFill>
                <a:latin typeface="Noto Sans"/>
              </a:rPr>
              <a:t>77.5%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048256"/>
            <a:ext cx="7543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20" b="0">
                <a:solidFill>
                  <a:srgbClr val="7B7B75"/>
                </a:solidFill>
                <a:latin typeface="Noto Sans"/>
              </a:rPr>
              <a:t>eff.acc_at_25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06040"/>
            <a:ext cx="1965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0D0D0D"/>
                </a:solidFill>
                <a:latin typeface="Noto Sans"/>
              </a:rPr>
              <a:t>400 labels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606040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10A37F"/>
                </a:solidFill>
                <a:latin typeface="Noto Sans"/>
              </a:rPr>
              <a:t>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54680" y="2624328"/>
            <a:ext cx="754380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54680" y="2624328"/>
            <a:ext cx="7317486" cy="164592"/>
          </a:xfrm>
          <a:prstGeom prst="roundRect">
            <a:avLst>
              <a:gd name="adj" fmla="val 8000"/>
            </a:avLst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99648" y="2569464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10A37F"/>
                </a:solidFill>
                <a:latin typeface="Noto Sans"/>
              </a:rPr>
              <a:t>97%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916936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555550"/>
                </a:solidFill>
                <a:latin typeface="Noto Sans"/>
              </a:rPr>
              <a:t>OFF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54680" y="2935224"/>
            <a:ext cx="754380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154680" y="2935224"/>
            <a:ext cx="6110478" cy="164592"/>
          </a:xfrm>
          <a:prstGeom prst="roundRect">
            <a:avLst>
              <a:gd name="adj" fmla="val 8000"/>
            </a:avLst>
          </a:prstGeom>
          <a:solidFill>
            <a:srgbClr val="555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9648" y="288036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555550"/>
                </a:solidFill>
                <a:latin typeface="Noto Sans"/>
              </a:rPr>
              <a:t>81%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191256"/>
            <a:ext cx="7543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20" b="0">
                <a:solidFill>
                  <a:srgbClr val="7B7B75"/>
                </a:solidFill>
                <a:latin typeface="Noto Sans"/>
              </a:rPr>
              <a:t>eff.acc_at_100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749039"/>
            <a:ext cx="1965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0D0D0D"/>
                </a:solidFill>
                <a:latin typeface="Noto Sans"/>
              </a:rPr>
              <a:t>Efficiency ratio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749039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10A37F"/>
                </a:solidFill>
                <a:latin typeface="Noto Sans"/>
              </a:rPr>
              <a:t>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54680" y="3767327"/>
            <a:ext cx="754380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154680" y="3767327"/>
            <a:ext cx="6921436" cy="164592"/>
          </a:xfrm>
          <a:prstGeom prst="roundRect">
            <a:avLst>
              <a:gd name="adj" fmla="val 8000"/>
            </a:avLst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99648" y="3712463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10A37F"/>
                </a:solidFill>
                <a:latin typeface="Noto Sans"/>
              </a:rPr>
              <a:t>91.75%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059935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555550"/>
                </a:solidFill>
                <a:latin typeface="Noto Sans"/>
              </a:rPr>
              <a:t>OFF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54680" y="4078223"/>
            <a:ext cx="754380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154680" y="4078223"/>
            <a:ext cx="7217907" cy="164592"/>
          </a:xfrm>
          <a:prstGeom prst="roundRect">
            <a:avLst>
              <a:gd name="adj" fmla="val 8000"/>
            </a:avLst>
          </a:prstGeom>
          <a:solidFill>
            <a:srgbClr val="555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99648" y="4023359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555550"/>
                </a:solidFill>
                <a:latin typeface="Noto Sans"/>
              </a:rPr>
              <a:t>95.68%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4334255"/>
            <a:ext cx="7543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20" b="0">
                <a:solidFill>
                  <a:srgbClr val="7B7B75"/>
                </a:solidFill>
                <a:latin typeface="Noto Sans"/>
              </a:rPr>
              <a:t>acc@100 labels ÷ acc@400 labels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5074920"/>
            <a:ext cx="10469880" cy="868680"/>
          </a:xfrm>
          <a:prstGeom prst="roundRect">
            <a:avLst>
              <a:gd name="adj" fmla="val 16000"/>
            </a:avLst>
          </a:prstGeom>
          <a:solidFill>
            <a:srgbClr val="FA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5257800"/>
            <a:ext cx="9921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400" b="1">
                <a:solidFill>
                  <a:srgbClr val="DF633F"/>
                </a:solidFill>
                <a:latin typeface="Noto Sans"/>
              </a:rPr>
              <a:t>The agents sampled different generators and training schedules. Do not attribute +11.5 or +16.0 accuracy points to Gate 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803136"/>
            <a:ext cx="7619809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10A37F"/>
                </a:solidFill>
                <a:latin typeface="Noto Sans"/>
              </a:rPr>
              <a:t>PAPER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0D0D0D"/>
                </a:solidFill>
                <a:latin typeface="Noto Sans"/>
              </a:rPr>
              <a:t>Evidence quality improved; reviewer scores barely moved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10607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50" b="0">
                <a:solidFill>
                  <a:srgbClr val="7B7B75"/>
                </a:solidFill>
                <a:latin typeface="Noto Sans"/>
              </a:rPr>
              <a:t>Sources: gated/ungated report.txt; full_workflow_analysis.json paper_audit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967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750" b="0">
                <a:solidFill>
                  <a:srgbClr val="7B7B75"/>
                </a:solidFill>
                <a:latin typeface="Noto San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965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0D0D0D"/>
                </a:solidFill>
                <a:latin typeface="Noto Sans"/>
              </a:rPr>
              <a:t>Traceability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508760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10A37F"/>
                </a:solidFill>
                <a:latin typeface="Noto Sans"/>
              </a:rPr>
              <a:t>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527048"/>
            <a:ext cx="379476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54680" y="1527048"/>
            <a:ext cx="3665738" cy="164592"/>
          </a:xfrm>
          <a:prstGeom prst="roundRect">
            <a:avLst>
              <a:gd name="adj" fmla="val 8000"/>
            </a:avLst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1472184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10A37F"/>
                </a:solidFill>
                <a:latin typeface="Noto Sans"/>
              </a:rPr>
              <a:t>96.6%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19656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555550"/>
                </a:solidFill>
                <a:latin typeface="Noto Sans"/>
              </a:rPr>
              <a:t>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1837944"/>
            <a:ext cx="379476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0608" y="178308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555550"/>
                </a:solidFill>
                <a:latin typeface="Noto Sans"/>
              </a:rP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093976"/>
            <a:ext cx="3794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20" b="0">
                <a:solidFill>
                  <a:srgbClr val="7B7B75"/>
                </a:solidFill>
                <a:latin typeface="Noto Sans"/>
              </a:rPr>
              <a:t>direct registry + checkable derivation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80360"/>
            <a:ext cx="1965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0D0D0D"/>
                </a:solidFill>
                <a:latin typeface="Noto Sans"/>
              </a:rPr>
              <a:t>Writer 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880360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10A37F"/>
                </a:solidFill>
                <a:latin typeface="Noto Sans"/>
              </a:rPr>
              <a:t>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2898648"/>
            <a:ext cx="379476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54680" y="2898648"/>
            <a:ext cx="3122328" cy="164592"/>
          </a:xfrm>
          <a:prstGeom prst="roundRect">
            <a:avLst>
              <a:gd name="adj" fmla="val 8000"/>
            </a:avLst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50608" y="2843784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10A37F"/>
                </a:solidFill>
                <a:latin typeface="Noto Sans"/>
              </a:rPr>
              <a:t>82.28%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191256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555550"/>
                </a:solidFill>
                <a:latin typeface="Noto Sans"/>
              </a:rPr>
              <a:t>OFF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3209544"/>
            <a:ext cx="379476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54680" y="3209544"/>
            <a:ext cx="2949287" cy="164592"/>
          </a:xfrm>
          <a:prstGeom prst="roundRect">
            <a:avLst>
              <a:gd name="adj" fmla="val 8000"/>
            </a:avLst>
          </a:prstGeom>
          <a:solidFill>
            <a:srgbClr val="555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315468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555550"/>
                </a:solidFill>
                <a:latin typeface="Noto Sans"/>
              </a:rPr>
              <a:t>77.72%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3465576"/>
            <a:ext cx="3794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20" b="0">
                <a:solidFill>
                  <a:srgbClr val="7B7B75"/>
                </a:solidFill>
                <a:latin typeface="Noto Sans"/>
              </a:rPr>
              <a:t>4.114 vs 3.886, normalized to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251960"/>
            <a:ext cx="1965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0D0D0D"/>
                </a:solidFill>
                <a:latin typeface="Noto Sans"/>
              </a:rPr>
              <a:t>Reviewer mean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251960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10A37F"/>
                </a:solidFill>
                <a:latin typeface="Noto Sans"/>
              </a:rPr>
              <a:t>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54680" y="4270248"/>
            <a:ext cx="379476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154680" y="4270248"/>
            <a:ext cx="2834685" cy="164592"/>
          </a:xfrm>
          <a:prstGeom prst="roundRect">
            <a:avLst>
              <a:gd name="adj" fmla="val 8000"/>
            </a:avLst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4215384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10A37F"/>
                </a:solidFill>
                <a:latin typeface="Noto Sans"/>
              </a:rPr>
              <a:t>74.7%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562856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555550"/>
                </a:solidFill>
                <a:latin typeface="Noto Sans"/>
              </a:rPr>
              <a:t>OFF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54680" y="4581144"/>
            <a:ext cx="379476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154680" y="4581144"/>
            <a:ext cx="2857454" cy="164592"/>
          </a:xfrm>
          <a:prstGeom prst="roundRect">
            <a:avLst>
              <a:gd name="adj" fmla="val 8000"/>
            </a:avLst>
          </a:prstGeom>
          <a:solidFill>
            <a:srgbClr val="555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50608" y="452628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555550"/>
                </a:solidFill>
                <a:latin typeface="Noto Sans"/>
              </a:rPr>
              <a:t>75.3%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4837176"/>
            <a:ext cx="3794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20" b="0">
                <a:solidFill>
                  <a:srgbClr val="7B7B75"/>
                </a:solidFill>
                <a:latin typeface="Noto Sans"/>
              </a:rPr>
              <a:t>3.735 vs 3.765, normalized to 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1417320"/>
            <a:ext cx="3520440" cy="4526280"/>
          </a:xfrm>
          <a:prstGeom prst="roundRect">
            <a:avLst>
              <a:gd name="adj" fmla="val 16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7" y="1783080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10A37F"/>
                </a:solidFill>
                <a:latin typeface="Noto Sans"/>
              </a:rPr>
              <a:t>OUT OF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2267712"/>
            <a:ext cx="29260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100" b="1">
                <a:solidFill>
                  <a:srgbClr val="FFFFFF"/>
                </a:solidFill>
                <a:latin typeface="Noto Sans"/>
              </a:rPr>
              <a:t>SCIENTIFIC
INTERPRETATION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7" y="3200400"/>
            <a:ext cx="283464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0">
                <a:solidFill>
                  <a:srgbClr val="D0D0CB"/>
                </a:solidFill>
                <a:latin typeface="Noto Sans"/>
              </a:rPr>
              <a:t>The gated paper still added an unjustified two-point scaling exponent and violated its report contract.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892040"/>
            <a:ext cx="2834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0A37F"/>
                </a:solidFill>
                <a:latin typeface="Noto Sans"/>
              </a:rPr>
              <a:t>Later-gate work.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803136"/>
            <a:ext cx="8381790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10A37F"/>
                </a:solidFill>
                <a:latin typeface="Noto Sans"/>
              </a:rPr>
              <a:t>MLR-BENCH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0D0D0D"/>
                </a:solidFill>
                <a:latin typeface="Noto Sans"/>
              </a:rPr>
              <a:t>Complete output can still be unsound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10607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50" b="0">
                <a:solidFill>
                  <a:srgbClr val="7B7B75"/>
                </a:solidFill>
                <a:latin typeface="Noto Sans"/>
              </a:rPr>
              <a:t>Source: MLR Bench.pdf, PDF pp. 1, 6, 8; arXiv:2505.19955v3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967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750" b="0">
                <a:solidFill>
                  <a:srgbClr val="7B7B75"/>
                </a:solidFill>
                <a:latin typeface="Noto San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2057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0D0D0D"/>
                </a:solidFill>
                <a:latin typeface="Noto Sans"/>
              </a:rPr>
              <a:t>Fabricated / invalidated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527048"/>
            <a:ext cx="7909560" cy="201168"/>
          </a:xfrm>
          <a:prstGeom prst="roundRect">
            <a:avLst>
              <a:gd name="adj" fmla="val 10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1527048"/>
            <a:ext cx="6327648" cy="201168"/>
          </a:xfrm>
          <a:prstGeom prst="roundRect">
            <a:avLst>
              <a:gd name="adj" fmla="val 10000"/>
            </a:avLst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63072" y="1472184"/>
            <a:ext cx="640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150" b="1">
                <a:solidFill>
                  <a:srgbClr val="10A37F"/>
                </a:solidFill>
                <a:latin typeface="Noto Sans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819656"/>
            <a:ext cx="79095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40" b="0">
                <a:solidFill>
                  <a:srgbClr val="7B7B75"/>
                </a:solidFill>
                <a:latin typeface="Noto Sans"/>
              </a:rPr>
              <a:t>reported frequency for coding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2057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0D0D0D"/>
                </a:solidFill>
                <a:latin typeface="Noto Sans"/>
              </a:rPr>
              <a:t>Placeholder-result 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532888"/>
            <a:ext cx="7909560" cy="201168"/>
          </a:xfrm>
          <a:prstGeom prst="roundRect">
            <a:avLst>
              <a:gd name="adj" fmla="val 10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4640" y="2532888"/>
            <a:ext cx="6327648" cy="201168"/>
          </a:xfrm>
          <a:prstGeom prst="roundRect">
            <a:avLst>
              <a:gd name="adj" fmla="val 10000"/>
            </a:avLst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63072" y="2478024"/>
            <a:ext cx="640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150" b="1">
                <a:solidFill>
                  <a:srgbClr val="10A37F"/>
                </a:solidFill>
                <a:latin typeface="Noto Sans"/>
              </a:rP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825496"/>
            <a:ext cx="79095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40" b="0">
                <a:solidFill>
                  <a:srgbClr val="7B7B75"/>
                </a:solidFill>
                <a:latin typeface="Noto Sans"/>
              </a:rPr>
              <a:t>8 of 10 Claude Code experiment-execution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20440"/>
            <a:ext cx="2057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0D0D0D"/>
                </a:solidFill>
                <a:latin typeface="Noto Sans"/>
              </a:rPr>
              <a:t>Soundness — MLR-Judge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3538728"/>
            <a:ext cx="7909560" cy="201168"/>
          </a:xfrm>
          <a:prstGeom prst="roundRect">
            <a:avLst>
              <a:gd name="adj" fmla="val 10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34640" y="3538728"/>
            <a:ext cx="2950265" cy="201168"/>
          </a:xfrm>
          <a:prstGeom prst="roundRect">
            <a:avLst>
              <a:gd name="adj" fmla="val 10000"/>
            </a:avLst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63072" y="3483864"/>
            <a:ext cx="640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150" b="1">
                <a:solidFill>
                  <a:srgbClr val="10A37F"/>
                </a:solidFill>
                <a:latin typeface="Noto Sans"/>
              </a:rPr>
              <a:t>37.3%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831336"/>
            <a:ext cx="79095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40" b="0">
                <a:solidFill>
                  <a:srgbClr val="7B7B75"/>
                </a:solidFill>
                <a:latin typeface="Noto Sans"/>
              </a:rPr>
              <a:t>3.73 /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26280"/>
            <a:ext cx="2057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0D0D0D"/>
                </a:solidFill>
                <a:latin typeface="Noto Sans"/>
              </a:rPr>
              <a:t>Soundness — humans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4544568"/>
            <a:ext cx="7909560" cy="201168"/>
          </a:xfrm>
          <a:prstGeom prst="roundRect">
            <a:avLst>
              <a:gd name="adj" fmla="val 10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34640" y="4544568"/>
            <a:ext cx="3496025" cy="201168"/>
          </a:xfrm>
          <a:prstGeom prst="roundRect">
            <a:avLst>
              <a:gd name="adj" fmla="val 10000"/>
            </a:avLst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63072" y="4489704"/>
            <a:ext cx="640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150" b="1">
                <a:solidFill>
                  <a:srgbClr val="10A37F"/>
                </a:solidFill>
                <a:latin typeface="Noto Sans"/>
              </a:rPr>
              <a:t>44.2%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837176"/>
            <a:ext cx="79095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40" b="0">
                <a:solidFill>
                  <a:srgbClr val="7B7B75"/>
                </a:solidFill>
                <a:latin typeface="Noto Sans"/>
              </a:rPr>
              <a:t>4.42 /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23560"/>
            <a:ext cx="104241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300" b="1">
                <a:solidFill>
                  <a:srgbClr val="555550"/>
                </a:solidFill>
                <a:latin typeface="Noto Sans"/>
              </a:rPr>
              <a:t>Table 5 overall scores: Claude Code 4.95 / 10 · Codex 4.95 / 10 · acceptance threshold 6.0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803136"/>
            <a:ext cx="9143771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10A37F"/>
                </a:solidFill>
                <a:latin typeface="Noto Sans"/>
              </a:rPr>
              <a:t>BENCHMARK-CALIBRATED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0D0D0D"/>
                </a:solidFill>
                <a:latin typeface="Noto Sans"/>
              </a:rPr>
              <a:t>Gate 1 closes one evidence failure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10607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50" b="0">
                <a:solidFill>
                  <a:srgbClr val="7B7B75"/>
                </a:solidFill>
                <a:latin typeface="Noto Sans"/>
              </a:rPr>
              <a:t>Sources: MLR-Bench pp. 1, 6, 8; full_workflow_analysis.json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967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750" b="0">
                <a:solidFill>
                  <a:srgbClr val="7B7B75"/>
                </a:solidFill>
                <a:latin typeface="Noto San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965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0D0D0D"/>
                </a:solidFill>
                <a:latin typeface="Noto Sans"/>
              </a:rPr>
              <a:t>Evidence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371600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10A37F"/>
                </a:solidFill>
                <a:latin typeface="Noto Sans"/>
              </a:rPr>
              <a:t>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389888"/>
            <a:ext cx="754380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54680" y="1389888"/>
            <a:ext cx="7543800" cy="164592"/>
          </a:xfrm>
          <a:prstGeom prst="roundRect">
            <a:avLst>
              <a:gd name="adj" fmla="val 8000"/>
            </a:avLst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99648" y="1335024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10A37F"/>
                </a:solidFill>
                <a:latin typeface="Noto Sans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682496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555550"/>
                </a:solidFill>
                <a:latin typeface="Noto Sans"/>
              </a:rPr>
              <a:t>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1700784"/>
            <a:ext cx="754380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99648" y="16459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555550"/>
                </a:solidFill>
                <a:latin typeface="Noto Sans"/>
              </a:rP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1956816"/>
            <a:ext cx="7543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20" b="0">
                <a:solidFill>
                  <a:srgbClr val="7B7B75"/>
                </a:solidFill>
                <a:latin typeface="Noto Sans"/>
              </a:rPr>
              <a:t>campaign metric; MLR-Bench does not publish this exact 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4600"/>
            <a:ext cx="1965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0D0D0D"/>
                </a:solidFill>
                <a:latin typeface="Noto Sans"/>
              </a:rPr>
              <a:t>Registry traceability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514600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10A37F"/>
                </a:solidFill>
                <a:latin typeface="Noto Sans"/>
              </a:rPr>
              <a:t>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2532888"/>
            <a:ext cx="754380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54680" y="2532888"/>
            <a:ext cx="7287310" cy="164592"/>
          </a:xfrm>
          <a:prstGeom prst="roundRect">
            <a:avLst>
              <a:gd name="adj" fmla="val 8000"/>
            </a:avLst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99648" y="2478024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10A37F"/>
                </a:solidFill>
                <a:latin typeface="Noto Sans"/>
              </a:rPr>
              <a:t>96.6%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825496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555550"/>
                </a:solidFill>
                <a:latin typeface="Noto Sans"/>
              </a:rPr>
              <a:t>OFF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2843784"/>
            <a:ext cx="754380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99648" y="27889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555550"/>
                </a:solidFill>
                <a:latin typeface="Noto Sans"/>
              </a:rPr>
              <a:t>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3099816"/>
            <a:ext cx="7543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20" b="0">
                <a:solidFill>
                  <a:srgbClr val="7B7B75"/>
                </a:solidFill>
                <a:latin typeface="Noto Sans"/>
              </a:rPr>
              <a:t>campaign metric; direct + checkably derived paper claims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657600"/>
            <a:ext cx="1965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0D0D0D"/>
                </a:solidFill>
                <a:latin typeface="Noto Sans"/>
              </a:rPr>
              <a:t>Visible-value reproduction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657600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10A37F"/>
                </a:solidFill>
                <a:latin typeface="Noto Sans"/>
              </a:rPr>
              <a:t>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54680" y="3675888"/>
            <a:ext cx="754380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154680" y="3675888"/>
            <a:ext cx="7543800" cy="164592"/>
          </a:xfrm>
          <a:prstGeom prst="roundRect">
            <a:avLst>
              <a:gd name="adj" fmla="val 8000"/>
            </a:avLst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99648" y="3621024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10A37F"/>
                </a:solidFill>
                <a:latin typeface="Noto Sans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968496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555550"/>
                </a:solidFill>
                <a:latin typeface="Noto Sans"/>
              </a:rPr>
              <a:t>OFF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54680" y="3986784"/>
            <a:ext cx="7543800" cy="164592"/>
          </a:xfrm>
          <a:prstGeom prst="roundRect">
            <a:avLst>
              <a:gd name="adj" fmla="val 8000"/>
            </a:avLst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154680" y="3986784"/>
            <a:ext cx="7543800" cy="164592"/>
          </a:xfrm>
          <a:prstGeom prst="roundRect">
            <a:avLst>
              <a:gd name="adj" fmla="val 8000"/>
            </a:avLst>
          </a:prstGeom>
          <a:solidFill>
            <a:srgbClr val="555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99648" y="3931920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1000" b="1">
                <a:solidFill>
                  <a:srgbClr val="555550"/>
                </a:solidFill>
                <a:latin typeface="Noto Sans"/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4242816"/>
            <a:ext cx="7543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20" b="0">
                <a:solidFill>
                  <a:srgbClr val="7B7B75"/>
                </a:solidFill>
                <a:latin typeface="Noto Sans"/>
              </a:rPr>
              <a:t>earlier five-run phase ablation: 24/24 gated, 10/10 ungated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5074920"/>
            <a:ext cx="10469880" cy="868680"/>
          </a:xfrm>
          <a:prstGeom prst="roundRect">
            <a:avLst>
              <a:gd name="adj" fmla="val 16000"/>
            </a:avLst>
          </a:prstGeom>
          <a:solidFill>
            <a:srgbClr val="FA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5248656"/>
            <a:ext cx="99212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350" b="1">
                <a:solidFill>
                  <a:srgbClr val="DF633F"/>
                </a:solidFill>
                <a:latin typeface="Noto Sans"/>
              </a:rPr>
              <a:t>Not an MLR-Bench submission. The 80% published failure rate and this campaign’s percentages are contextual—not one shared accuracy scale.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803136"/>
            <a:ext cx="9905752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10A37F"/>
                </a:solidFill>
                <a:latin typeface="Noto Sans"/>
              </a:rP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0D0D0D"/>
                </a:solidFill>
                <a:latin typeface="Noto Sans"/>
              </a:rPr>
              <a:t>What changed—and what did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10607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50" b="0">
                <a:solidFill>
                  <a:srgbClr val="7B7B75"/>
                </a:solidFill>
                <a:latin typeface="Noto Sans"/>
              </a:rPr>
              <a:t>Source: GATE1_VALIDATION_REPORT.md § Executive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967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750" b="0">
                <a:solidFill>
                  <a:srgbClr val="7B7B75"/>
                </a:solidFill>
                <a:latin typeface="Noto San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18520" cy="1298448"/>
          </a:xfrm>
          <a:prstGeom prst="roundRect">
            <a:avLst>
              <a:gd name="adj" fmla="val 16000"/>
            </a:avLst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72768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10A37F"/>
                </a:solidFill>
                <a:latin typeface="Noto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08760"/>
            <a:ext cx="2011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500" b="1">
                <a:solidFill>
                  <a:srgbClr val="10A37F"/>
                </a:solidFill>
                <a:latin typeface="Noto Sans"/>
              </a:rPr>
              <a:t>+100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527048"/>
            <a:ext cx="20116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0D0D0D"/>
                </a:solidFill>
                <a:latin typeface="Noto Sans"/>
              </a:rPr>
              <a:t>Evidence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527048"/>
            <a:ext cx="53492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>
                <a:solidFill>
                  <a:srgbClr val="555550"/>
                </a:solidFill>
                <a:latin typeface="Noto Sans"/>
              </a:rPr>
              <a:t>Every required value reached the writer with a citable run origin.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98648"/>
            <a:ext cx="11018520" cy="1298448"/>
          </a:xfrm>
          <a:prstGeom prst="roundRect">
            <a:avLst>
              <a:gd name="adj" fmla="val 16000"/>
            </a:avLst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145536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555550"/>
                </a:solidFill>
                <a:latin typeface="Noto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81528"/>
            <a:ext cx="2011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500" b="1">
                <a:solidFill>
                  <a:srgbClr val="555550"/>
                </a:solidFill>
                <a:latin typeface="Noto Sans"/>
              </a:rPr>
              <a:t>−0.030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99816"/>
            <a:ext cx="20116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0D0D0D"/>
                </a:solidFill>
                <a:latin typeface="Noto Sans"/>
              </a:rPr>
              <a:t>Reviewer-score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099816"/>
            <a:ext cx="53492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>
                <a:solidFill>
                  <a:srgbClr val="555550"/>
                </a:solidFill>
                <a:latin typeface="Noto Sans"/>
              </a:rPr>
              <a:t>Generic reviewer means were nearly identical; no paper-quality effect is claimed.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71416"/>
            <a:ext cx="11018520" cy="1298448"/>
          </a:xfrm>
          <a:prstGeom prst="roundRect">
            <a:avLst>
              <a:gd name="adj" fmla="val 16000"/>
            </a:avLst>
          </a:prstGeom>
          <a:solidFill>
            <a:srgbClr val="FA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718304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DF633F"/>
                </a:solidFill>
                <a:latin typeface="Noto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654296"/>
            <a:ext cx="2011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500" b="1">
                <a:solidFill>
                  <a:srgbClr val="DF633F"/>
                </a:solidFill>
                <a:latin typeface="Noto Sans"/>
              </a:rPr>
              <a:t>not causal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672584"/>
            <a:ext cx="20116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0D0D0D"/>
                </a:solidFill>
                <a:latin typeface="Noto Sans"/>
              </a:rPr>
              <a:t>Raw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4672584"/>
            <a:ext cx="53492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>
                <a:solidFill>
                  <a:srgbClr val="555550"/>
                </a:solidFill>
                <a:latin typeface="Noto Sans"/>
              </a:rPr>
              <a:t>Different sampled experiments explain the 0.89/0.97 vs 0.775/0.81 values.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80760"/>
            <a:ext cx="10652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500" b="1">
                <a:solidFill>
                  <a:srgbClr val="0D0D0D"/>
                </a:solidFill>
                <a:latin typeface="Noto Sans"/>
              </a:rPr>
              <a:t>Gate 1 makes measurements auditable. It does not make the science correct.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03136"/>
            <a:ext cx="10667733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10A37F"/>
                </a:solidFill>
                <a:latin typeface="Noto Sans"/>
              </a:rPr>
              <a:t>DECISION +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0D0D0D"/>
                </a:solidFill>
                <a:latin typeface="Noto Sans"/>
              </a:rPr>
              <a:t>Accept Gate 1; continue the validation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10607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50" b="0">
                <a:solidFill>
                  <a:srgbClr val="7B7B75"/>
                </a:solidFill>
                <a:latin typeface="Noto Sans"/>
              </a:rPr>
              <a:t>Full report: GATE1_FINAL_REPORT.pdf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967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750" b="0">
                <a:solidFill>
                  <a:srgbClr val="7B7B75"/>
                </a:solidFill>
                <a:latin typeface="Noto San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394960" cy="4480560"/>
          </a:xfrm>
          <a:prstGeom prst="roundRect">
            <a:avLst>
              <a:gd name="adj" fmla="val 16000"/>
            </a:avLst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45920"/>
            <a:ext cx="4800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1">
                <a:solidFill>
                  <a:srgbClr val="08725C"/>
                </a:solidFill>
                <a:latin typeface="Noto Sans"/>
              </a:rPr>
              <a:t>ACCEPT GATE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40280"/>
            <a:ext cx="4709160" cy="2560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00">
                <a:solidFill>
                  <a:srgbClr val="0D0D0D"/>
                </a:solidFill>
                <a:latin typeface="Noto Sans"/>
              </a:rPr>
              <a:t>•  Deterministic execution validity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00">
                <a:solidFill>
                  <a:srgbClr val="0D0D0D"/>
                </a:solidFill>
                <a:latin typeface="Noto Sans"/>
              </a:rPr>
              <a:t>•  Typed result capture and complete logs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00">
                <a:solidFill>
                  <a:srgbClr val="0D0D0D"/>
                </a:solidFill>
                <a:latin typeface="Noto Sans"/>
              </a:rPr>
              <a:t>•  Source → command → log → value provenance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00">
                <a:solidFill>
                  <a:srgbClr val="0D0D0D"/>
                </a:solidFill>
                <a:latin typeface="Noto Sans"/>
              </a:rPr>
              <a:t>•  Bounded repair feedback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00">
                <a:solidFill>
                  <a:srgbClr val="0D0D0D"/>
                </a:solidFill>
                <a:latin typeface="Noto Sans"/>
              </a:rPr>
              <a:t>•  286 + 76 tests passing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074920"/>
            <a:ext cx="4663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08725C"/>
                </a:solidFill>
                <a:latin typeface="Noto Sans"/>
              </a:rPr>
              <a:t>Next: Gate 3, strict result schemas, real sandbox, ≥10 paired MLR-Bench tasks.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94960" cy="4480560"/>
          </a:xfrm>
          <a:prstGeom prst="roundRect">
            <a:avLst>
              <a:gd name="adj" fmla="val 16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64592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1">
                <a:solidFill>
                  <a:srgbClr val="10A37F"/>
                </a:solidFill>
                <a:latin typeface="Noto Sans"/>
              </a:rPr>
              <a:t>EVIDENCE PACKAGE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212848"/>
            <a:ext cx="4709160" cy="3063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00" b="1">
                <a:solidFill>
                  <a:srgbClr val="10A37F"/>
                </a:solidFill>
                <a:latin typeface="Noto Sans"/>
              </a:rPr>
              <a:t>Report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Noto Sans Mono"/>
              </a:rPr>
              <a:t>GATE1_FINAL_REPORT.pdf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00" b="1">
                <a:solidFill>
                  <a:srgbClr val="10A37F"/>
                </a:solidFill>
                <a:latin typeface="Noto Sans"/>
              </a:rPr>
              <a:t>Feedback report + full logs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Noto Sans Mono"/>
              </a:rPr>
              <a:t>verification/evidence/feedback_loop_example/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00" b="1">
                <a:solidFill>
                  <a:srgbClr val="10A37F"/>
                </a:solidFill>
                <a:latin typeface="Noto Sans"/>
              </a:rPr>
              <a:t>Workflow logs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Noto Sans Mono"/>
              </a:rPr>
              <a:t>reports/finalized-report-and-results/verification/logs/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00" b="1">
                <a:solidFill>
                  <a:srgbClr val="10A37F"/>
                </a:solidFill>
                <a:latin typeface="Noto Sans"/>
              </a:rPr>
              <a:t>Benchmark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Noto Sans Mono"/>
              </a:rPr>
              <a:t>reports/finalized-report-and-results/verification/benchmark/MLR_Bench.pdf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1429714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10A37F"/>
                </a:solidFill>
                <a:latin typeface="Noto Sans"/>
              </a:rPr>
              <a:t>SUBMISSION BUNDLE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FFFFFF"/>
                </a:solidFill>
                <a:latin typeface="Noto Sans"/>
              </a:rPr>
              <a:t>Everything needed to verify 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10607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50" b="0">
                <a:solidFill>
                  <a:srgbClr val="AAAAA5"/>
                </a:solidFill>
                <a:latin typeface="Noto Sans"/>
              </a:rPr>
              <a:t>Start: reports/finalized-report-and-results/README.md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9672"/>
            <a:ext cx="320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750" b="0">
                <a:solidFill>
                  <a:srgbClr val="AAAAA5"/>
                </a:solidFill>
                <a:latin typeface="Noto San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49240" cy="4526280"/>
          </a:xfrm>
          <a:prstGeom prst="roundRect">
            <a:avLst>
              <a:gd name="adj" fmla="val 16000"/>
            </a:avLst>
          </a:prstGeom>
          <a:solidFill>
            <a:srgbClr val="1B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91640"/>
            <a:ext cx="4709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10A37F"/>
                </a:solidFill>
                <a:latin typeface="Noto Sans"/>
              </a:rPr>
              <a:t>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48840"/>
            <a:ext cx="4617720" cy="3154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100" b="1">
                <a:solidFill>
                  <a:srgbClr val="10A37F"/>
                </a:solidFill>
                <a:latin typeface="Noto Sans"/>
              </a:rPr>
              <a:t>Final report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Noto Sans Mono"/>
              </a:rPr>
              <a:t>GATE1_FINAL_REPORT.pdf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100" b="1">
                <a:solidFill>
                  <a:srgbClr val="10A37F"/>
                </a:solidFill>
                <a:latin typeface="Noto Sans"/>
              </a:rPr>
              <a:t>16-slide presentation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Noto Sans Mono"/>
              </a:rPr>
              <a:t>GATE1_FINAL_PRESENTATION.pptx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100" b="1">
                <a:solidFill>
                  <a:srgbClr val="10A37F"/>
                </a:solidFill>
                <a:latin typeface="Noto Sans"/>
              </a:rPr>
              <a:t>Portable preview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Noto Sans Mono"/>
              </a:rPr>
              <a:t>GATE1_FINAL_PRESENTATION.pdf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4526280"/>
          </a:xfrm>
          <a:prstGeom prst="roundRect">
            <a:avLst>
              <a:gd name="adj" fmla="val 16000"/>
            </a:avLst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91640"/>
            <a:ext cx="4709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08725C"/>
                </a:solidFill>
                <a:latin typeface="Noto Sans"/>
              </a:rPr>
              <a:t>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176272"/>
            <a:ext cx="4617720" cy="2651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20">
                <a:solidFill>
                  <a:srgbClr val="0D0D0D"/>
                </a:solidFill>
                <a:latin typeface="Noto Sans"/>
              </a:rPr>
              <a:t>•  Gated + completed ungated workflow logs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20">
                <a:solidFill>
                  <a:srgbClr val="0D0D0D"/>
                </a:solidFill>
                <a:latin typeface="Noto Sans"/>
              </a:rPr>
              <a:t>•  Both generated papers, LaTeX, and figures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20">
                <a:solidFill>
                  <a:srgbClr val="0D0D0D"/>
                </a:solidFill>
                <a:latin typeface="Noto Sans"/>
              </a:rPr>
              <a:t>•  All 20 completed-arm execution artifacts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20">
                <a:solidFill>
                  <a:srgbClr val="0D0D0D"/>
                </a:solidFill>
                <a:latin typeface="Noto Sans"/>
              </a:rPr>
              <a:t>•  Gate reports, registries, feedback-loop repeats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20">
                <a:solidFill>
                  <a:srgbClr val="0D0D0D"/>
                </a:solidFill>
                <a:latin typeface="Noto Sans"/>
              </a:rPr>
              <a:t>•  Shared YAML, manifests, source reports, MLR-Bench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20">
                <a:solidFill>
                  <a:srgbClr val="0D0D0D"/>
                </a:solidFill>
                <a:latin typeface="Noto Sans"/>
              </a:rPr>
              <a:t>•  SHA-256 checksum manifest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5138928"/>
            <a:ext cx="4617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1">
                <a:solidFill>
                  <a:srgbClr val="08725C"/>
                </a:solidFill>
                <a:latin typeface="Noto Sans Mono"/>
              </a:rPr>
              <a:t>verification/ · SHA256SUMS.txt · SUBMISSION_MANIFEST.json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1 — Final Validation Presentation</dc:title>
  <dc:subject>Combined Gate 1 controlled-run validation</dc:subject>
  <dc:creator>G.A.T.E.S.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